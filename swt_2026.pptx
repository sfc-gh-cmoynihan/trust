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9"/>
  </p:notesMasterIdLst>
  <p:sldIdLst>
    <p:sldId id="256" r:id="rId2"/>
    <p:sldId id="260" r:id="rId3"/>
    <p:sldId id="261" r:id="rId4"/>
    <p:sldId id="262" r:id="rId5"/>
    <p:sldId id="265" r:id="rId6"/>
    <p:sldId id="286" r:id="rId7"/>
    <p:sldId id="285" r:id="rId8"/>
  </p:sldIdLst>
  <p:sldSz cx="18288000" cy="10287000"/>
  <p:notesSz cx="6858000" cy="9144000"/>
  <p:embeddedFontLst>
    <p:embeddedFont>
      <p:font typeface="Arial Black" panose="020B0604020202020204" pitchFamily="34" charset="0"/>
      <p:bold r:id="rId10"/>
    </p:embeddedFont>
    <p:embeddedFont>
      <p:font typeface="Inter" panose="02000503000000020004"/>
      <p:bold r:id="rId11"/>
      <p:italic r:id="rId12"/>
      <p:boldItalic r:id="rId13"/>
    </p:embeddedFont>
    <p:embeddedFont>
      <p:font typeface="Lato" panose="020F0502020204030203" pitchFamily="34" charset="77"/>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7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9BA2E7-DC5C-43F0-99E9-B03DE4E068D4}">
  <a:tblStyle styleId="{7C9BA2E7-DC5C-43F0-99E9-B03DE4E068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51"/>
    <p:restoredTop sz="94635"/>
  </p:normalViewPr>
  <p:slideViewPr>
    <p:cSldViewPr snapToGrid="0">
      <p:cViewPr varScale="1">
        <p:scale>
          <a:sx n="67" d="100"/>
          <a:sy n="67" d="100"/>
        </p:scale>
        <p:origin x="296" y="176"/>
      </p:cViewPr>
      <p:guideLst>
        <p:guide orient="horz" pos="778"/>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rgbClr val="5B5B5B"/>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rgbClr val="5B5B5B"/>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rgbClr val="5B5B5B"/>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B5B5B"/>
                </a:solidFill>
                <a:latin typeface="Arial"/>
                <a:ea typeface="Arial"/>
                <a:cs typeface="Arial"/>
                <a:sym typeface="Arial"/>
              </a:rPr>
              <a:t>‹#›</a:t>
            </a:fld>
            <a:endParaRPr sz="1200" b="0" i="0" u="none" strike="noStrike" cap="none">
              <a:solidFill>
                <a:srgbClr val="5B5B5B"/>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eb91d3a074_5_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eb91d3a074_5_2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g3eb91d3a074_5_2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e9ba786863_1_5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e9ba786863_1_5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So let's set the scene. The world of AI is shifting fast — and agents are at the centre of that shift.</a:t>
            </a:r>
          </a:p>
          <a:p/>
          <a:p>
            <a:r>
              <a:t>These aren't just chatbots answering questions anymore. Agents are taking real actions — accessing sensitive data, making decisions, and interacting with systems on behalf of users. And that introduces a fundamentally new category of risk.</a:t>
            </a:r>
          </a:p>
          <a:p/>
          <a:p>
            <a:r>
              <a:t>A recent Snowflake study found that 96% of organisations still face significant challenges scaling AI — whether that's data quality, skills gaps, or integration with legacy systems. We're very much in the early innings.</a:t>
            </a:r>
          </a:p>
          <a:p/>
          <a:p>
            <a:r>
              <a:t>And Gartner backs this up. They predict that by 2027, 80% of large enterprises will need clearly defined, reusable governance and guardrail practices for their AI agents and assistants.</a:t>
            </a:r>
          </a:p>
          <a:p/>
          <a:p>
            <a:r>
              <a:t>Even more striking — Gartner also projects that through 2029, over half of successful cyberattacks against AI agents will exploit access control issues, often through direct or indirect prompt injection.</a:t>
            </a:r>
          </a:p>
          <a:p/>
          <a:p>
            <a:r>
              <a:t>So the message here is clear: if you're building with agents, security can't be an afterthought. It has to be designed in from day one.</a:t>
            </a:r>
          </a:p>
        </p:txBody>
      </p:sp>
      <p:sp>
        <p:nvSpPr>
          <p:cNvPr id="355" name="Google Shape;355;g3e9ba786863_1_58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e9ba786863_1_5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e9ba786863_1_5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Over the past year, we've spoken with dozens of CISOs and security architects. And three themes come up in almost every conversation.</a:t>
            </a:r>
          </a:p>
          <a:p/>
          <a:p>
            <a:r>
              <a:t>The first is least-privileged access and agent identity. Security leaders want to know: who is this agent? What is it allowed to do? Can I scope its permissions the same way I would for a human user?</a:t>
            </a:r>
          </a:p>
          <a:p/>
          <a:p>
            <a:r>
              <a:t>The second is data exfiltration and unauthorised data movement. Agents can read data and, without the right controls, they can send it anywhere. That's a real and growing risk — especially as agents become more autonomous.</a:t>
            </a:r>
          </a:p>
          <a:p/>
          <a:p>
            <a:r>
              <a:t>And the third is centralised visibility. Security teams are telling us they simply don't have a clear picture of how AI is being used across their environment. They need a single pane of glass.</a:t>
            </a:r>
          </a:p>
          <a:p/>
          <a:p>
            <a:r>
              <a:t>What we're announcing this week directly addresses all three of these concerns. Let me show you how.</a:t>
            </a:r>
          </a:p>
        </p:txBody>
      </p:sp>
      <p:sp>
        <p:nvSpPr>
          <p:cNvPr id="366" name="Google Shape;366;g3e9ba786863_1_5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e4c931a2ea_0_4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e4c931a2ea_0_4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At Snowflake, our philosophy is straightforward: proactive, enterprise-grade security for data and AI — built in, not bolted on.</a:t>
            </a:r>
          </a:p>
          <a:p/>
          <a:p>
            <a:r>
              <a:t>Let me walk you through the layers.</a:t>
            </a:r>
          </a:p>
          <a:p/>
          <a:p>
            <a:r>
              <a:t>At the foundation, you have platform security — authentication, single sign-on, RBAC, network policies. This has been Snowflake's strength for years, and it continues to evolve.</a:t>
            </a:r>
          </a:p>
          <a:p/>
          <a:p>
            <a:r>
              <a:t>On top of that sits data security — sensitive data protection, encryption, and data integrity. And today, we're extending that layer to include data exfiltration protection and ransomware defence. These are critical capabilities as the threat landscape evolves.</a:t>
            </a:r>
          </a:p>
          <a:p/>
          <a:p>
            <a:r>
              <a:t>And now, we're introducing a new layer: agent security. These are purpose-built controls designed for the agentic era. This includes Agent Identity — so you can identify and scope what each agent is allowed to do. Horizon AI Guardrails — so you can protect against prompt injection and unsafe outputs. And AI Security Posture Management within Trust Center — so you have full visibility into the security posture of your AI workloads.</a:t>
            </a:r>
          </a:p>
          <a:p/>
          <a:p>
            <a:r>
              <a:t>This isn't a bolt-on. It's natively integrated into the platform.</a:t>
            </a:r>
          </a:p>
        </p:txBody>
      </p:sp>
      <p:sp>
        <p:nvSpPr>
          <p:cNvPr id="401" name="Google Shape;401;g3e4c931a2ea_0_4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eb34f70eb5_3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eb34f70eb5_3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Now let me talk about Trust Center, because this has been on a real journey.</a:t>
            </a:r>
          </a:p>
          <a:p/>
          <a:p>
            <a:r>
              <a:t>When we first launched Trust Center, it was focused on surfacing security violations and helping teams remediate them manually. That was a great starting point — but the world has moved on.</a:t>
            </a:r>
          </a:p>
          <a:p/>
          <a:p>
            <a:r>
              <a:t>Today, we've evolved from violations to near real-time detections. From manual remediation to AI-assisted remediation. From static posture management to AI Security Posture Management and data exfiltration detection. And from a governance-only tool to one that supports full compliance workflows.</a:t>
            </a:r>
          </a:p>
          <a:p/>
          <a:p>
            <a:r>
              <a:t>Trust Center is now Snowflake's single pane of glass — giving you visibility into security, compliance, and governance across accounts and across clouds.</a:t>
            </a:r>
          </a:p>
          <a:p/>
          <a:p>
            <a:r>
              <a:t>It scans your accounts against the Snowflake CIS Benchmark — which represents industry best practices for Snowflake security configuration. It surfaces violations. And critically, it tells you exactly what to do about them.</a:t>
            </a:r>
          </a:p>
          <a:p/>
          <a:p>
            <a:r>
              <a:t>Over the last year, we've significantly expanded Trust Center, and I want to show you what that looks like in practice.</a:t>
            </a:r>
          </a:p>
        </p:txBody>
      </p:sp>
      <p:sp>
        <p:nvSpPr>
          <p:cNvPr id="477" name="Google Shape;477;g3eb34f70eb5_3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a:extLst>
            <a:ext uri="{FF2B5EF4-FFF2-40B4-BE49-F238E27FC236}">
              <a16:creationId xmlns:a16="http://schemas.microsoft.com/office/drawing/2014/main" id="{FA6FE8A4-637D-C2BE-DD1A-5FB618CBAD5C}"/>
            </a:ext>
          </a:extLst>
        </p:cNvPr>
        <p:cNvGrpSpPr/>
        <p:nvPr/>
      </p:nvGrpSpPr>
      <p:grpSpPr>
        <a:xfrm>
          <a:off x="0" y="0"/>
          <a:ext cx="0" cy="0"/>
          <a:chOff x="0" y="0"/>
          <a:chExt cx="0" cy="0"/>
        </a:xfrm>
      </p:grpSpPr>
      <p:sp>
        <p:nvSpPr>
          <p:cNvPr id="949" name="Google Shape;949;g3eb91d3a074_5_900:notes">
            <a:extLst>
              <a:ext uri="{FF2B5EF4-FFF2-40B4-BE49-F238E27FC236}">
                <a16:creationId xmlns:a16="http://schemas.microsoft.com/office/drawing/2014/main" id="{02316ED9-5CB9-F79D-4857-AA3654B2B97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r>
              <a:t>This is where we bring the slides to life. I'm going to show you Trust Center — Snowflake's single pane of glass for security, compliance, and governance.</a:t>
            </a:r>
          </a:p>
          <a:p/>
          <a:p>
            <a:r>
              <a:t>The demo has four parts, each mapping to what we just discussed.</a:t>
            </a:r>
          </a:p>
          <a:p/>
          <a:p>
            <a:r>
              <a:t>First, I'll open Trust Center and show you the dashboard — real findings from this account. Critical issues like missing network policies, tasks running with admin privileges. Trust Center flags these and gives you the exact SQL to fix them.</a:t>
            </a:r>
          </a:p>
          <a:p/>
          <a:p>
            <a:r>
              <a:t>Second, I'll show you data classification and masking. We'll auto-classify a table with PII — Snowflake identifies emails, names, ages automatically. Then I'll show masking policies in action: same table, same query, different results depending on who's asking. This is how you protect sensitive data from over-privileged access.</a:t>
            </a:r>
          </a:p>
          <a:p/>
          <a:p>
            <a:r>
              <a:t>Third — and this is the exciting part — I'm going to enable AI Security live. Right now it's disabled. One command turns it on, and suddenly we have scanners checking whether agents are accessing sensitive data, whether prompt injection guardrails are enabled, whether Cortex Search services are owned by privileged roles.</a:t>
            </a:r>
          </a:p>
          <a:p/>
          <a:p>
            <a:r>
              <a:t>Finally, I'll enable Threat Intelligence — real-time detection scanners for login anomalies, dormant user activity, authentication failures, and sensitive parameter changes.</a:t>
            </a:r>
          </a:p>
          <a:p/>
          <a:p>
            <a:r>
              <a:t>By the end, all four packages will be active — CIS Benchmarks, Security Essentials, AI Security, and Threat Intelligence — all visible in one place. Built in, not bolted on.</a:t>
            </a:r>
          </a:p>
        </p:txBody>
      </p:sp>
      <p:sp>
        <p:nvSpPr>
          <p:cNvPr id="950" name="Google Shape;950;g3eb91d3a074_5_900:notes">
            <a:extLst>
              <a:ext uri="{FF2B5EF4-FFF2-40B4-BE49-F238E27FC236}">
                <a16:creationId xmlns:a16="http://schemas.microsoft.com/office/drawing/2014/main" id="{1BA5AC7F-C376-C13B-4A6B-65D557F844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5506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3eb91d3a074_5_90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Arial"/>
              <a:buNone/>
            </a:pPr>
            <a:endParaRPr/>
          </a:p>
        </p:txBody>
      </p:sp>
      <p:sp>
        <p:nvSpPr>
          <p:cNvPr id="950" name="Google Shape;950;g3eb91d3a074_5_9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vent">
  <p:cSld name="CUSTOM">
    <p:bg>
      <p:bgPr>
        <a:solidFill>
          <a:schemeClr val="accent1"/>
        </a:solidFill>
        <a:effectLst/>
      </p:bgPr>
    </p:bg>
    <p:spTree>
      <p:nvGrpSpPr>
        <p:cNvPr id="1" name="Shape 13"/>
        <p:cNvGrpSpPr/>
        <p:nvPr/>
      </p:nvGrpSpPr>
      <p:grpSpPr>
        <a:xfrm>
          <a:off x="0" y="0"/>
          <a:ext cx="0" cy="0"/>
          <a:chOff x="0" y="0"/>
          <a:chExt cx="0" cy="0"/>
        </a:xfrm>
      </p:grpSpPr>
      <p:pic>
        <p:nvPicPr>
          <p:cNvPr id="14" name="Google Shape;14;p2" title="swt25-cloud-06.png"/>
          <p:cNvPicPr preferRelativeResize="0"/>
          <p:nvPr/>
        </p:nvPicPr>
        <p:blipFill>
          <a:blip r:embed="rId2">
            <a:alphaModFix/>
          </a:blip>
          <a:stretch>
            <a:fillRect/>
          </a:stretch>
        </p:blipFill>
        <p:spPr>
          <a:xfrm>
            <a:off x="13622299" y="4959600"/>
            <a:ext cx="4458895" cy="2547301"/>
          </a:xfrm>
          <a:prstGeom prst="rect">
            <a:avLst/>
          </a:prstGeom>
          <a:noFill/>
          <a:ln>
            <a:noFill/>
          </a:ln>
        </p:spPr>
      </p:pic>
      <p:pic>
        <p:nvPicPr>
          <p:cNvPr id="15" name="Google Shape;15;p2" title="swt25-cloud-06.png"/>
          <p:cNvPicPr preferRelativeResize="0"/>
          <p:nvPr/>
        </p:nvPicPr>
        <p:blipFill>
          <a:blip r:embed="rId2">
            <a:alphaModFix/>
          </a:blip>
          <a:stretch>
            <a:fillRect/>
          </a:stretch>
        </p:blipFill>
        <p:spPr>
          <a:xfrm>
            <a:off x="8576849" y="6312210"/>
            <a:ext cx="3440302" cy="1965389"/>
          </a:xfrm>
          <a:prstGeom prst="rect">
            <a:avLst/>
          </a:prstGeom>
          <a:noFill/>
          <a:ln>
            <a:noFill/>
          </a:ln>
        </p:spPr>
      </p:pic>
      <p:pic>
        <p:nvPicPr>
          <p:cNvPr id="16" name="Google Shape;16;p2" title="swt25-cloud-06.png"/>
          <p:cNvPicPr preferRelativeResize="0"/>
          <p:nvPr/>
        </p:nvPicPr>
        <p:blipFill>
          <a:blip r:embed="rId2">
            <a:alphaModFix/>
          </a:blip>
          <a:stretch>
            <a:fillRect/>
          </a:stretch>
        </p:blipFill>
        <p:spPr>
          <a:xfrm>
            <a:off x="11510600" y="4659875"/>
            <a:ext cx="2495498" cy="1425651"/>
          </a:xfrm>
          <a:prstGeom prst="rect">
            <a:avLst/>
          </a:prstGeom>
          <a:noFill/>
          <a:ln>
            <a:noFill/>
          </a:ln>
        </p:spPr>
      </p:pic>
      <p:pic>
        <p:nvPicPr>
          <p:cNvPr id="17" name="Google Shape;17;p2" title="sno25-swt-vignettes-r7-rgb_right-corner-2.png"/>
          <p:cNvPicPr preferRelativeResize="0"/>
          <p:nvPr/>
        </p:nvPicPr>
        <p:blipFill rotWithShape="1">
          <a:blip r:embed="rId3">
            <a:alphaModFix/>
          </a:blip>
          <a:srcRect l="4271" r="4271"/>
          <a:stretch/>
        </p:blipFill>
        <p:spPr>
          <a:xfrm>
            <a:off x="6310350" y="3361650"/>
            <a:ext cx="11977646" cy="6925352"/>
          </a:xfrm>
          <a:prstGeom prst="rect">
            <a:avLst/>
          </a:prstGeom>
          <a:noFill/>
          <a:ln>
            <a:noFill/>
          </a:ln>
        </p:spPr>
      </p:pic>
      <p:grpSp>
        <p:nvGrpSpPr>
          <p:cNvPr id="18" name="Google Shape;18;p2"/>
          <p:cNvGrpSpPr/>
          <p:nvPr/>
        </p:nvGrpSpPr>
        <p:grpSpPr>
          <a:xfrm>
            <a:off x="917760" y="2280745"/>
            <a:ext cx="9428685" cy="1795958"/>
            <a:chOff x="4714874" y="4067495"/>
            <a:chExt cx="8797056" cy="1675647"/>
          </a:xfrm>
        </p:grpSpPr>
        <p:sp>
          <p:nvSpPr>
            <p:cNvPr id="19" name="Google Shape;19;p2"/>
            <p:cNvSpPr/>
            <p:nvPr/>
          </p:nvSpPr>
          <p:spPr>
            <a:xfrm>
              <a:off x="4714874" y="4067495"/>
              <a:ext cx="1652517" cy="1607906"/>
            </a:xfrm>
            <a:custGeom>
              <a:avLst/>
              <a:gdLst/>
              <a:ahLst/>
              <a:cxnLst/>
              <a:rect l="l" t="t" r="r" b="b"/>
              <a:pathLst>
                <a:path w="1101678" h="1071937" extrusionOk="0">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20" name="Google Shape;20;p2"/>
            <p:cNvSpPr/>
            <p:nvPr/>
          </p:nvSpPr>
          <p:spPr>
            <a:xfrm>
              <a:off x="6865060" y="4094534"/>
              <a:ext cx="6227805" cy="723565"/>
            </a:xfrm>
            <a:custGeom>
              <a:avLst/>
              <a:gdLst/>
              <a:ahLst/>
              <a:cxnLst/>
              <a:rect l="l" t="t" r="r" b="b"/>
              <a:pathLst>
                <a:path w="4151870" h="482377" extrusionOk="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21" name="Google Shape;21;p2"/>
            <p:cNvSpPr/>
            <p:nvPr/>
          </p:nvSpPr>
          <p:spPr>
            <a:xfrm>
              <a:off x="6848871" y="5019579"/>
              <a:ext cx="6663058" cy="723563"/>
            </a:xfrm>
            <a:custGeom>
              <a:avLst/>
              <a:gdLst/>
              <a:ahLst/>
              <a:cxnLst/>
              <a:rect l="l" t="t" r="r" b="b"/>
              <a:pathLst>
                <a:path w="4442039" h="482375" extrusionOk="0">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01">
  <p:cSld name="Cover 01">
    <p:bg>
      <p:bgPr>
        <a:solidFill>
          <a:schemeClr val="accent1"/>
        </a:solidFill>
        <a:effectLst/>
      </p:bgPr>
    </p:bg>
    <p:spTree>
      <p:nvGrpSpPr>
        <p:cNvPr id="1" name="Shape 22"/>
        <p:cNvGrpSpPr/>
        <p:nvPr/>
      </p:nvGrpSpPr>
      <p:grpSpPr>
        <a:xfrm>
          <a:off x="0" y="0"/>
          <a:ext cx="0" cy="0"/>
          <a:chOff x="0" y="0"/>
          <a:chExt cx="0" cy="0"/>
        </a:xfrm>
      </p:grpSpPr>
      <p:sp>
        <p:nvSpPr>
          <p:cNvPr id="23" name="Google Shape;23;p3"/>
          <p:cNvSpPr txBox="1">
            <a:spLocks noGrp="1"/>
          </p:cNvSpPr>
          <p:nvPr>
            <p:ph type="subTitle" idx="1"/>
          </p:nvPr>
        </p:nvSpPr>
        <p:spPr>
          <a:xfrm>
            <a:off x="729753" y="6263606"/>
            <a:ext cx="11839200" cy="818400"/>
          </a:xfrm>
          <a:prstGeom prst="rect">
            <a:avLst/>
          </a:prstGeom>
          <a:noFill/>
          <a:ln>
            <a:noFill/>
          </a:ln>
        </p:spPr>
        <p:txBody>
          <a:bodyPr spcFirstLastPara="1" wrap="square" lIns="182900" tIns="0" rIns="91450" bIns="45700" anchor="t" anchorCtr="0">
            <a:noAutofit/>
          </a:bodyPr>
          <a:lstStyle>
            <a:lvl1pPr lvl="0" algn="l">
              <a:lnSpc>
                <a:spcPct val="114000"/>
              </a:lnSpc>
              <a:spcBef>
                <a:spcPts val="0"/>
              </a:spcBef>
              <a:spcAft>
                <a:spcPts val="0"/>
              </a:spcAft>
              <a:buClr>
                <a:schemeClr val="dk1"/>
              </a:buClr>
              <a:buSzPts val="3600"/>
              <a:buNone/>
              <a:defRPr sz="3600" b="1">
                <a:solidFill>
                  <a:schemeClr val="dk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endParaRPr/>
          </a:p>
        </p:txBody>
      </p:sp>
      <p:sp>
        <p:nvSpPr>
          <p:cNvPr id="24" name="Google Shape;24;p3"/>
          <p:cNvSpPr txBox="1">
            <a:spLocks noGrp="1"/>
          </p:cNvSpPr>
          <p:nvPr>
            <p:ph type="body" idx="2"/>
          </p:nvPr>
        </p:nvSpPr>
        <p:spPr>
          <a:xfrm>
            <a:off x="729753" y="8369193"/>
            <a:ext cx="7270800" cy="759000"/>
          </a:xfrm>
          <a:prstGeom prst="rect">
            <a:avLst/>
          </a:prstGeom>
          <a:noFill/>
          <a:ln>
            <a:noFill/>
          </a:ln>
        </p:spPr>
        <p:txBody>
          <a:bodyPr spcFirstLastPara="1" wrap="square" lIns="182900" tIns="45700" rIns="91450" bIns="45700" anchor="b" anchorCtr="0">
            <a:noAutofit/>
          </a:bodyPr>
          <a:lstStyle>
            <a:lvl1pPr marL="457200" lvl="0" indent="-228600" algn="l">
              <a:lnSpc>
                <a:spcPct val="114000"/>
              </a:lnSpc>
              <a:spcBef>
                <a:spcPts val="0"/>
              </a:spcBef>
              <a:spcAft>
                <a:spcPts val="0"/>
              </a:spcAft>
              <a:buClr>
                <a:schemeClr val="dk1"/>
              </a:buClr>
              <a:buSzPts val="2800"/>
              <a:buNone/>
              <a:defRPr sz="2800" b="1">
                <a:solidFill>
                  <a:schemeClr val="dk1"/>
                </a:solidFill>
              </a:defRPr>
            </a:lvl1pPr>
            <a:lvl2pPr marL="914400" lvl="1" indent="-228600" algn="l">
              <a:lnSpc>
                <a:spcPct val="114000"/>
              </a:lnSpc>
              <a:spcBef>
                <a:spcPts val="0"/>
              </a:spcBef>
              <a:spcAft>
                <a:spcPts val="0"/>
              </a:spcAft>
              <a:buSzPts val="2800"/>
              <a:buNone/>
              <a:defRPr sz="2800"/>
            </a:lvl2pPr>
            <a:lvl3pPr marL="1371600" lvl="2" indent="-228600" algn="l">
              <a:lnSpc>
                <a:spcPct val="114000"/>
              </a:lnSpc>
              <a:spcBef>
                <a:spcPts val="1200"/>
              </a:spcBef>
              <a:spcAft>
                <a:spcPts val="0"/>
              </a:spcAft>
              <a:buSzPts val="2800"/>
              <a:buNone/>
              <a:defRPr sz="2800"/>
            </a:lvl3pPr>
            <a:lvl4pPr marL="1828800" lvl="3" indent="-228600" algn="l">
              <a:lnSpc>
                <a:spcPct val="114000"/>
              </a:lnSpc>
              <a:spcBef>
                <a:spcPts val="1200"/>
              </a:spcBef>
              <a:spcAft>
                <a:spcPts val="0"/>
              </a:spcAft>
              <a:buSzPts val="2800"/>
              <a:buNone/>
              <a:defRPr sz="2800"/>
            </a:lvl4pPr>
            <a:lvl5pPr marL="2286000" lvl="4" indent="-228600" algn="l">
              <a:lnSpc>
                <a:spcPct val="114000"/>
              </a:lnSpc>
              <a:spcBef>
                <a:spcPts val="1200"/>
              </a:spcBef>
              <a:spcAft>
                <a:spcPts val="0"/>
              </a:spcAft>
              <a:buSzPts val="2800"/>
              <a:buNone/>
              <a:defRPr sz="28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5" name="Google Shape;25;p3"/>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p:txBody>
      </p:sp>
      <p:sp>
        <p:nvSpPr>
          <p:cNvPr id="26" name="Google Shape;26;p3"/>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u="none" strike="noStrike" cap="none">
                <a:solidFill>
                  <a:schemeClr val="lt1"/>
                </a:solidFill>
                <a:latin typeface="Arial"/>
                <a:ea typeface="Arial"/>
                <a:cs typeface="Arial"/>
                <a:sym typeface="Arial"/>
              </a:rPr>
              <a:t>© 202</a:t>
            </a:r>
            <a:r>
              <a:rPr lang="en-US" sz="1200">
                <a:solidFill>
                  <a:schemeClr val="lt1"/>
                </a:solidFill>
              </a:rPr>
              <a:t>6</a:t>
            </a:r>
            <a:r>
              <a:rPr lang="en-US" sz="1200" b="0" i="0" u="none" strike="noStrike" cap="none">
                <a:solidFill>
                  <a:schemeClr val="lt1"/>
                </a:solidFill>
                <a:latin typeface="Arial"/>
                <a:ea typeface="Arial"/>
                <a:cs typeface="Arial"/>
                <a:sym typeface="Arial"/>
              </a:rPr>
              <a:t> Snowflake Inc. All Rights Reserved</a:t>
            </a:r>
            <a:endParaRPr sz="1200" b="0" i="0" u="none" strike="noStrike" cap="none">
              <a:solidFill>
                <a:schemeClr val="lt1"/>
              </a:solidFill>
              <a:latin typeface="Arial"/>
              <a:ea typeface="Arial"/>
              <a:cs typeface="Arial"/>
              <a:sym typeface="Arial"/>
            </a:endParaRPr>
          </a:p>
        </p:txBody>
      </p:sp>
      <p:sp>
        <p:nvSpPr>
          <p:cNvPr id="27" name="Google Shape;27;p3"/>
          <p:cNvSpPr txBox="1">
            <a:spLocks noGrp="1"/>
          </p:cNvSpPr>
          <p:nvPr>
            <p:ph type="title"/>
          </p:nvPr>
        </p:nvSpPr>
        <p:spPr>
          <a:xfrm>
            <a:off x="729750" y="1328425"/>
            <a:ext cx="13417800" cy="4655400"/>
          </a:xfrm>
          <a:prstGeom prst="rect">
            <a:avLst/>
          </a:prstGeom>
          <a:noFill/>
          <a:ln>
            <a:noFill/>
          </a:ln>
        </p:spPr>
        <p:txBody>
          <a:bodyPr spcFirstLastPara="1" wrap="square" lIns="91450" tIns="91450" rIns="91450" bIns="91450" anchor="b" anchorCtr="0">
            <a:noAutofit/>
          </a:bodyPr>
          <a:lstStyle>
            <a:lvl1pPr marL="0" marR="0" lvl="0" indent="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sz="8800" b="0">
                <a:solidFill>
                  <a:schemeClr val="lt1"/>
                </a:solidFill>
                <a:latin typeface="Arial Black"/>
                <a:ea typeface="Arial Black"/>
                <a:cs typeface="Arial Black"/>
                <a:sym typeface="Arial Black"/>
              </a:defRPr>
            </a:lvl9pPr>
          </a:lstStyle>
          <a:p>
            <a:endParaRPr/>
          </a:p>
        </p:txBody>
      </p:sp>
      <p:pic>
        <p:nvPicPr>
          <p:cNvPr id="28" name="Google Shape;28;p3" title="swt25-cloud-06.png"/>
          <p:cNvPicPr preferRelativeResize="0"/>
          <p:nvPr/>
        </p:nvPicPr>
        <p:blipFill>
          <a:blip r:embed="rId2">
            <a:alphaModFix/>
          </a:blip>
          <a:stretch>
            <a:fillRect/>
          </a:stretch>
        </p:blipFill>
        <p:spPr>
          <a:xfrm>
            <a:off x="14731749" y="4763049"/>
            <a:ext cx="3005153" cy="1716800"/>
          </a:xfrm>
          <a:prstGeom prst="rect">
            <a:avLst/>
          </a:prstGeom>
          <a:noFill/>
          <a:ln>
            <a:noFill/>
          </a:ln>
        </p:spPr>
      </p:pic>
      <p:pic>
        <p:nvPicPr>
          <p:cNvPr id="29" name="Google Shape;29;p3" title="swt25-cloud-06.png"/>
          <p:cNvPicPr preferRelativeResize="0"/>
          <p:nvPr/>
        </p:nvPicPr>
        <p:blipFill>
          <a:blip r:embed="rId2">
            <a:alphaModFix/>
          </a:blip>
          <a:stretch>
            <a:fillRect/>
          </a:stretch>
        </p:blipFill>
        <p:spPr>
          <a:xfrm>
            <a:off x="11216550" y="5983843"/>
            <a:ext cx="3005153" cy="1716805"/>
          </a:xfrm>
          <a:prstGeom prst="rect">
            <a:avLst/>
          </a:prstGeom>
          <a:noFill/>
          <a:ln>
            <a:noFill/>
          </a:ln>
        </p:spPr>
      </p:pic>
      <p:pic>
        <p:nvPicPr>
          <p:cNvPr id="30" name="Google Shape;30;p3" title="sno25-swt-vignettes-r7-rgb_left-corner-1 copy.png"/>
          <p:cNvPicPr preferRelativeResize="0"/>
          <p:nvPr/>
        </p:nvPicPr>
        <p:blipFill rotWithShape="1">
          <a:blip r:embed="rId3">
            <a:alphaModFix/>
          </a:blip>
          <a:srcRect t="2061" b="2061"/>
          <a:stretch/>
        </p:blipFill>
        <p:spPr>
          <a:xfrm>
            <a:off x="10495747" y="4107375"/>
            <a:ext cx="7792251" cy="617962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ulti-use layout">
  <p:cSld name="Multi-use layout">
    <p:spTree>
      <p:nvGrpSpPr>
        <p:cNvPr id="1" name="Shape 31"/>
        <p:cNvGrpSpPr/>
        <p:nvPr/>
      </p:nvGrpSpPr>
      <p:grpSpPr>
        <a:xfrm>
          <a:off x="0" y="0"/>
          <a:ext cx="0" cy="0"/>
          <a:chOff x="0" y="0"/>
          <a:chExt cx="0" cy="0"/>
        </a:xfrm>
      </p:grpSpPr>
      <p:sp>
        <p:nvSpPr>
          <p:cNvPr id="32" name="Google Shape;32;p4"/>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p:txBody>
      </p:sp>
      <p:sp>
        <p:nvSpPr>
          <p:cNvPr id="33" name="Google Shape;33;p4"/>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29292"/>
              </a:buClr>
              <a:buSzPts val="1200"/>
              <a:buFont typeface="Arial"/>
              <a:buNone/>
            </a:pPr>
            <a:r>
              <a:rPr lang="en-US" sz="1200" b="0" i="0" u="none" strike="noStrike" cap="none">
                <a:solidFill>
                  <a:srgbClr val="929292"/>
                </a:solidFill>
                <a:latin typeface="Arial"/>
                <a:ea typeface="Arial"/>
                <a:cs typeface="Arial"/>
                <a:sym typeface="Arial"/>
              </a:rPr>
              <a:t>© 202</a:t>
            </a:r>
            <a:r>
              <a:rPr lang="en-US" sz="1200">
                <a:solidFill>
                  <a:srgbClr val="929292"/>
                </a:solidFill>
              </a:rPr>
              <a:t>6</a:t>
            </a:r>
            <a:r>
              <a:rPr lang="en-US" sz="1200" b="0" i="0" u="none" strike="noStrike" cap="none">
                <a:solidFill>
                  <a:srgbClr val="929292"/>
                </a:solidFill>
                <a:latin typeface="Arial"/>
                <a:ea typeface="Arial"/>
                <a:cs typeface="Arial"/>
                <a:sym typeface="Arial"/>
              </a:rPr>
              <a:t> Snowflake Inc. All Rights Reserved</a:t>
            </a:r>
            <a:endParaRPr sz="1200" b="0" i="0" u="none" strike="noStrike" cap="none">
              <a:solidFill>
                <a:srgbClr val="929292"/>
              </a:solidFill>
              <a:latin typeface="Arial"/>
              <a:ea typeface="Arial"/>
              <a:cs typeface="Arial"/>
              <a:sym typeface="Arial"/>
            </a:endParaRPr>
          </a:p>
        </p:txBody>
      </p:sp>
      <p:sp>
        <p:nvSpPr>
          <p:cNvPr id="34" name="Google Shape;34;p4"/>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rgbClr val="929292"/>
                </a:solidFill>
                <a:latin typeface="Arial"/>
                <a:ea typeface="Arial"/>
                <a:cs typeface="Arial"/>
                <a:sym typeface="Arial"/>
              </a:rPr>
              <a:t>‹#›</a:t>
            </a:fld>
            <a:endParaRPr sz="1200" b="0" i="0" u="none" strike="noStrike" cap="none">
              <a:solidFill>
                <a:srgbClr val="929292"/>
              </a:solidFill>
              <a:latin typeface="Arial"/>
              <a:ea typeface="Arial"/>
              <a:cs typeface="Arial"/>
              <a:sym typeface="Arial"/>
            </a:endParaRPr>
          </a:p>
        </p:txBody>
      </p:sp>
      <p:sp>
        <p:nvSpPr>
          <p:cNvPr id="35" name="Google Shape;35;p4"/>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37" name="Google Shape;37;p4"/>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accent1"/>
        </a:solidFill>
        <a:effectLst/>
      </p:bgPr>
    </p:bg>
    <p:spTree>
      <p:nvGrpSpPr>
        <p:cNvPr id="1" name="Shape 47"/>
        <p:cNvGrpSpPr/>
        <p:nvPr/>
      </p:nvGrpSpPr>
      <p:grpSpPr>
        <a:xfrm>
          <a:off x="0" y="0"/>
          <a:ext cx="0" cy="0"/>
          <a:chOff x="0" y="0"/>
          <a:chExt cx="0" cy="0"/>
        </a:xfrm>
      </p:grpSpPr>
      <p:sp>
        <p:nvSpPr>
          <p:cNvPr id="48" name="Google Shape;48;p6"/>
          <p:cNvSpPr txBox="1">
            <a:spLocks noGrp="1"/>
          </p:cNvSpPr>
          <p:nvPr>
            <p:ph type="body" idx="1"/>
          </p:nvPr>
        </p:nvSpPr>
        <p:spPr>
          <a:xfrm>
            <a:off x="1864659" y="1679945"/>
            <a:ext cx="12893400" cy="6996000"/>
          </a:xfrm>
          <a:prstGeom prst="rect">
            <a:avLst/>
          </a:prstGeom>
          <a:no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chemeClr val="lt1"/>
              </a:buClr>
              <a:buSzPts val="3600"/>
              <a:buNone/>
              <a:defRPr b="1">
                <a:solidFill>
                  <a:schemeClr val="dk1"/>
                </a:solidFill>
              </a:defRPr>
            </a:lvl1pPr>
            <a:lvl2pPr marL="914400" lvl="1" indent="-457200" algn="l">
              <a:lnSpc>
                <a:spcPct val="114000"/>
              </a:lnSpc>
              <a:spcBef>
                <a:spcPts val="2000"/>
              </a:spcBef>
              <a:spcAft>
                <a:spcPts val="0"/>
              </a:spcAft>
              <a:buClr>
                <a:schemeClr val="lt1"/>
              </a:buClr>
              <a:buSzPts val="3600"/>
              <a:buChar char="•"/>
              <a:defRPr b="1">
                <a:solidFill>
                  <a:schemeClr val="dk1"/>
                </a:solidFill>
              </a:defRPr>
            </a:lvl2pPr>
            <a:lvl3pPr marL="1371600" lvl="2" indent="-419100" algn="l">
              <a:lnSpc>
                <a:spcPct val="114000"/>
              </a:lnSpc>
              <a:spcBef>
                <a:spcPts val="1200"/>
              </a:spcBef>
              <a:spcAft>
                <a:spcPts val="0"/>
              </a:spcAft>
              <a:buClr>
                <a:schemeClr val="lt1"/>
              </a:buClr>
              <a:buSzPts val="3000"/>
              <a:buChar char="•"/>
              <a:defRPr b="1">
                <a:solidFill>
                  <a:schemeClr val="dk1"/>
                </a:solidFill>
              </a:defRPr>
            </a:lvl3pPr>
            <a:lvl4pPr marL="1828800" lvl="3" indent="-406400" algn="l">
              <a:lnSpc>
                <a:spcPct val="114000"/>
              </a:lnSpc>
              <a:spcBef>
                <a:spcPts val="1200"/>
              </a:spcBef>
              <a:spcAft>
                <a:spcPts val="0"/>
              </a:spcAft>
              <a:buClr>
                <a:schemeClr val="lt1"/>
              </a:buClr>
              <a:buSzPts val="2800"/>
              <a:buChar char="•"/>
              <a:defRPr b="1">
                <a:solidFill>
                  <a:schemeClr val="dk1"/>
                </a:solidFill>
              </a:defRPr>
            </a:lvl4pPr>
            <a:lvl5pPr marL="2286000" lvl="4" indent="-406400" algn="l">
              <a:lnSpc>
                <a:spcPct val="114000"/>
              </a:lnSpc>
              <a:spcBef>
                <a:spcPts val="1200"/>
              </a:spcBef>
              <a:spcAft>
                <a:spcPts val="0"/>
              </a:spcAft>
              <a:buClr>
                <a:schemeClr val="lt1"/>
              </a:buClr>
              <a:buSzPts val="2800"/>
              <a:buChar char="•"/>
              <a:defRPr b="1">
                <a:solidFill>
                  <a:schemeClr val="dk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49" name="Google Shape;49;p6"/>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50" name="Google Shape;50;p6"/>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marL="0" marR="0" lvl="0" indent="0" algn="l" rtl="0">
              <a:spcBef>
                <a:spcPts val="0"/>
              </a:spcBef>
              <a:spcAft>
                <a:spcPts val="0"/>
              </a:spcAft>
              <a:buClr>
                <a:schemeClr val="lt1"/>
              </a:buClr>
              <a:buSzPts val="1200"/>
              <a:buFont typeface="Arial"/>
              <a:buNone/>
            </a:pPr>
            <a:endParaRPr sz="1200">
              <a:solidFill>
                <a:schemeClr val="lt1"/>
              </a:solidFill>
            </a:endParaRPr>
          </a:p>
        </p:txBody>
      </p:sp>
      <p:sp>
        <p:nvSpPr>
          <p:cNvPr id="51" name="Google Shape;51;p6"/>
          <p:cNvSpPr txBox="1">
            <a:spLocks noGrp="1"/>
          </p:cNvSpPr>
          <p:nvPr>
            <p:ph type="title"/>
          </p:nvPr>
        </p:nvSpPr>
        <p:spPr>
          <a:xfrm>
            <a:off x="709117" y="727121"/>
            <a:ext cx="16740600" cy="731400"/>
          </a:xfrm>
          <a:prstGeom prst="rect">
            <a:avLst/>
          </a:prstGeom>
          <a:noFill/>
          <a:ln>
            <a:noFill/>
          </a:ln>
        </p:spPr>
        <p:txBody>
          <a:bodyPr spcFirstLastPara="1" wrap="square" lIns="182900" tIns="182900" rIns="182900" bIns="0" anchor="t" anchorCtr="0">
            <a:noAutofit/>
          </a:bodyPr>
          <a:lstStyle>
            <a:lvl1pPr lvl="0" algn="l">
              <a:lnSpc>
                <a:spcPct val="85000"/>
              </a:lnSpc>
              <a:spcBef>
                <a:spcPts val="0"/>
              </a:spcBef>
              <a:spcAft>
                <a:spcPts val="0"/>
              </a:spcAft>
              <a:buClr>
                <a:schemeClr val="lt1"/>
              </a:buClr>
              <a:buSzPts val="5200"/>
              <a:buFont typeface="Arial"/>
              <a:buNone/>
              <a:defRPr sz="5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2" name="Google Shape;52;p6" title="swt25-cloud-06.png"/>
          <p:cNvPicPr preferRelativeResize="0"/>
          <p:nvPr/>
        </p:nvPicPr>
        <p:blipFill>
          <a:blip r:embed="rId2">
            <a:alphaModFix/>
          </a:blip>
          <a:stretch>
            <a:fillRect/>
          </a:stretch>
        </p:blipFill>
        <p:spPr>
          <a:xfrm>
            <a:off x="14127549" y="6691801"/>
            <a:ext cx="3769600" cy="2153502"/>
          </a:xfrm>
          <a:prstGeom prst="rect">
            <a:avLst/>
          </a:prstGeom>
          <a:noFill/>
          <a:ln>
            <a:noFill/>
          </a:ln>
        </p:spPr>
      </p:pic>
      <p:pic>
        <p:nvPicPr>
          <p:cNvPr id="53" name="Google Shape;53;p6" title="sno25-swt-vignettes-r7-rgb_right-corner-3.png"/>
          <p:cNvPicPr preferRelativeResize="0"/>
          <p:nvPr/>
        </p:nvPicPr>
        <p:blipFill rotWithShape="1">
          <a:blip r:embed="rId3">
            <a:alphaModFix/>
          </a:blip>
          <a:srcRect t="12762" b="122"/>
          <a:stretch/>
        </p:blipFill>
        <p:spPr>
          <a:xfrm>
            <a:off x="12742751" y="5018998"/>
            <a:ext cx="5545246" cy="52679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vider 01 (No Graphics)">
  <p:cSld name="Divider 01 (No Graphics)">
    <p:bg>
      <p:bgPr>
        <a:solidFill>
          <a:schemeClr val="accent1"/>
        </a:solidFill>
        <a:effectLst/>
      </p:bgPr>
    </p:bg>
    <p:spTree>
      <p:nvGrpSpPr>
        <p:cNvPr id="1" name="Shape 54"/>
        <p:cNvGrpSpPr/>
        <p:nvPr/>
      </p:nvGrpSpPr>
      <p:grpSpPr>
        <a:xfrm>
          <a:off x="0" y="0"/>
          <a:ext cx="0" cy="0"/>
          <a:chOff x="0" y="0"/>
          <a:chExt cx="0" cy="0"/>
        </a:xfrm>
      </p:grpSpPr>
      <p:sp>
        <p:nvSpPr>
          <p:cNvPr id="55" name="Google Shape;55;p7"/>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56" name="Google Shape;56;p7"/>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marL="0" marR="0" lvl="0" indent="0" algn="l" rtl="0">
              <a:spcBef>
                <a:spcPts val="0"/>
              </a:spcBef>
              <a:spcAft>
                <a:spcPts val="0"/>
              </a:spcAft>
              <a:buClr>
                <a:schemeClr val="lt1"/>
              </a:buClr>
              <a:buSzPts val="1200"/>
              <a:buFont typeface="Arial"/>
              <a:buNone/>
            </a:pPr>
            <a:endParaRPr sz="1200">
              <a:solidFill>
                <a:schemeClr val="lt1"/>
              </a:solidFill>
            </a:endParaRPr>
          </a:p>
        </p:txBody>
      </p:sp>
      <p:sp>
        <p:nvSpPr>
          <p:cNvPr id="57" name="Google Shape;57;p7"/>
          <p:cNvSpPr txBox="1">
            <a:spLocks noGrp="1"/>
          </p:cNvSpPr>
          <p:nvPr>
            <p:ph type="ctrTitle"/>
          </p:nvPr>
        </p:nvSpPr>
        <p:spPr>
          <a:xfrm>
            <a:off x="705200" y="2313253"/>
            <a:ext cx="136356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lumn Layout w Titles">
  <p:cSld name="Three Column Layout w Titles">
    <p:spTree>
      <p:nvGrpSpPr>
        <p:cNvPr id="1" name="Shape 58"/>
        <p:cNvGrpSpPr/>
        <p:nvPr/>
      </p:nvGrpSpPr>
      <p:grpSpPr>
        <a:xfrm>
          <a:off x="0" y="0"/>
          <a:ext cx="0" cy="0"/>
          <a:chOff x="0" y="0"/>
          <a:chExt cx="0" cy="0"/>
        </a:xfrm>
      </p:grpSpPr>
      <p:sp>
        <p:nvSpPr>
          <p:cNvPr id="59" name="Google Shape;59;p8"/>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60" name="Google Shape;60;p8"/>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29292"/>
              </a:buClr>
              <a:buSzPts val="1200"/>
              <a:buFont typeface="Arial"/>
              <a:buNone/>
            </a:pPr>
            <a:r>
              <a:rPr lang="en-US" sz="1200" b="0" i="0">
                <a:solidFill>
                  <a:srgbClr val="929292"/>
                </a:solidFill>
                <a:latin typeface="Arial"/>
                <a:ea typeface="Arial"/>
                <a:cs typeface="Arial"/>
                <a:sym typeface="Arial"/>
              </a:rPr>
              <a:t>© 202</a:t>
            </a:r>
            <a:r>
              <a:rPr lang="en-US" sz="1200">
                <a:solidFill>
                  <a:srgbClr val="929292"/>
                </a:solidFill>
              </a:rPr>
              <a:t>6</a:t>
            </a:r>
            <a:r>
              <a:rPr lang="en-US" sz="1200" b="0" i="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61" name="Google Shape;61;p8"/>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62" name="Google Shape;62;p8"/>
          <p:cNvSpPr txBox="1">
            <a:spLocks noGrp="1"/>
          </p:cNvSpPr>
          <p:nvPr>
            <p:ph type="body" idx="1"/>
          </p:nvPr>
        </p:nvSpPr>
        <p:spPr>
          <a:xfrm>
            <a:off x="709116" y="2708082"/>
            <a:ext cx="51582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3" name="Google Shape;63;p8"/>
          <p:cNvSpPr txBox="1">
            <a:spLocks noGrp="1"/>
          </p:cNvSpPr>
          <p:nvPr>
            <p:ph type="body" idx="2"/>
          </p:nvPr>
        </p:nvSpPr>
        <p:spPr>
          <a:xfrm>
            <a:off x="6357211" y="2711220"/>
            <a:ext cx="53682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4" name="Google Shape;64;p8"/>
          <p:cNvSpPr txBox="1">
            <a:spLocks noGrp="1"/>
          </p:cNvSpPr>
          <p:nvPr>
            <p:ph type="body" idx="3"/>
          </p:nvPr>
        </p:nvSpPr>
        <p:spPr>
          <a:xfrm>
            <a:off x="12215681" y="2708082"/>
            <a:ext cx="52344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5" name="Google Shape;65;p8"/>
          <p:cNvSpPr txBox="1">
            <a:spLocks noGrp="1"/>
          </p:cNvSpPr>
          <p:nvPr>
            <p:ph type="body" idx="4"/>
          </p:nvPr>
        </p:nvSpPr>
        <p:spPr>
          <a:xfrm>
            <a:off x="709116" y="3529540"/>
            <a:ext cx="51582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6" name="Google Shape;66;p8"/>
          <p:cNvSpPr txBox="1">
            <a:spLocks noGrp="1"/>
          </p:cNvSpPr>
          <p:nvPr>
            <p:ph type="body" idx="5"/>
          </p:nvPr>
        </p:nvSpPr>
        <p:spPr>
          <a:xfrm>
            <a:off x="6357210" y="3529540"/>
            <a:ext cx="53640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7" name="Google Shape;67;p8"/>
          <p:cNvSpPr txBox="1">
            <a:spLocks noGrp="1"/>
          </p:cNvSpPr>
          <p:nvPr>
            <p:ph type="body" idx="6"/>
          </p:nvPr>
        </p:nvSpPr>
        <p:spPr>
          <a:xfrm>
            <a:off x="12215685" y="3528860"/>
            <a:ext cx="52344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8" name="Google Shape;68;p8"/>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8"/>
          <p:cNvSpPr txBox="1">
            <a:spLocks noGrp="1"/>
          </p:cNvSpPr>
          <p:nvPr>
            <p:ph type="subTitle" idx="7"/>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70" name="Google Shape;70;p8"/>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03">
  <p:cSld name="Divider 03">
    <p:bg>
      <p:bgPr>
        <a:solidFill>
          <a:schemeClr val="accent1"/>
        </a:solidFill>
        <a:effectLst/>
      </p:bgPr>
    </p:bg>
    <p:spTree>
      <p:nvGrpSpPr>
        <p:cNvPr id="1" name="Shape 71"/>
        <p:cNvGrpSpPr/>
        <p:nvPr/>
      </p:nvGrpSpPr>
      <p:grpSpPr>
        <a:xfrm>
          <a:off x="0" y="0"/>
          <a:ext cx="0" cy="0"/>
          <a:chOff x="0" y="0"/>
          <a:chExt cx="0" cy="0"/>
        </a:xfrm>
      </p:grpSpPr>
      <p:sp>
        <p:nvSpPr>
          <p:cNvPr id="72" name="Google Shape;72;p9"/>
          <p:cNvSpPr txBox="1">
            <a:spLocks noGrp="1"/>
          </p:cNvSpPr>
          <p:nvPr>
            <p:ph type="ctrTitle"/>
          </p:nvPr>
        </p:nvSpPr>
        <p:spPr>
          <a:xfrm>
            <a:off x="705200" y="2313253"/>
            <a:ext cx="136356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3" name="Google Shape;73;p9" title="swt25-cloud-06.png"/>
          <p:cNvPicPr preferRelativeResize="0"/>
          <p:nvPr/>
        </p:nvPicPr>
        <p:blipFill>
          <a:blip r:embed="rId2">
            <a:alphaModFix/>
          </a:blip>
          <a:stretch>
            <a:fillRect/>
          </a:stretch>
        </p:blipFill>
        <p:spPr>
          <a:xfrm>
            <a:off x="14010599" y="5006775"/>
            <a:ext cx="2706248" cy="1546050"/>
          </a:xfrm>
          <a:prstGeom prst="rect">
            <a:avLst/>
          </a:prstGeom>
          <a:noFill/>
          <a:ln>
            <a:noFill/>
          </a:ln>
        </p:spPr>
      </p:pic>
      <p:pic>
        <p:nvPicPr>
          <p:cNvPr id="74" name="Google Shape;74;p9" title="swt25-cloud-06.png"/>
          <p:cNvPicPr preferRelativeResize="0"/>
          <p:nvPr/>
        </p:nvPicPr>
        <p:blipFill>
          <a:blip r:embed="rId2">
            <a:alphaModFix/>
          </a:blip>
          <a:stretch>
            <a:fillRect/>
          </a:stretch>
        </p:blipFill>
        <p:spPr>
          <a:xfrm>
            <a:off x="9820249" y="7864625"/>
            <a:ext cx="2706248" cy="1546050"/>
          </a:xfrm>
          <a:prstGeom prst="rect">
            <a:avLst/>
          </a:prstGeom>
          <a:noFill/>
          <a:ln>
            <a:noFill/>
          </a:ln>
        </p:spPr>
      </p:pic>
      <p:sp>
        <p:nvSpPr>
          <p:cNvPr id="75" name="Google Shape;75;p9"/>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76" name="Google Shape;76;p9"/>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marL="0" lvl="0" indent="0" algn="l" rtl="0">
              <a:spcBef>
                <a:spcPts val="0"/>
              </a:spcBef>
              <a:spcAft>
                <a:spcPts val="0"/>
              </a:spcAft>
              <a:buClr>
                <a:schemeClr val="lt1"/>
              </a:buClr>
              <a:buSzPts val="1200"/>
              <a:buFont typeface="Arial"/>
              <a:buNone/>
            </a:pPr>
            <a:endParaRPr sz="1200">
              <a:solidFill>
                <a:schemeClr val="lt1"/>
              </a:solidFill>
            </a:endParaRPr>
          </a:p>
          <a:p>
            <a:pPr marL="0" marR="0" lvl="0" indent="0" algn="l" rtl="0">
              <a:spcBef>
                <a:spcPts val="0"/>
              </a:spcBef>
              <a:spcAft>
                <a:spcPts val="0"/>
              </a:spcAft>
              <a:buClr>
                <a:schemeClr val="lt1"/>
              </a:buClr>
              <a:buSzPts val="1200"/>
              <a:buFont typeface="Arial"/>
              <a:buNone/>
            </a:pPr>
            <a:endParaRPr sz="1200">
              <a:solidFill>
                <a:schemeClr val="lt1"/>
              </a:solidFill>
            </a:endParaRPr>
          </a:p>
        </p:txBody>
      </p:sp>
      <p:pic>
        <p:nvPicPr>
          <p:cNvPr id="77" name="Google Shape;77;p9" title="citiscape-6_b.png"/>
          <p:cNvPicPr preferRelativeResize="0"/>
          <p:nvPr/>
        </p:nvPicPr>
        <p:blipFill rotWithShape="1">
          <a:blip r:embed="rId3">
            <a:alphaModFix/>
          </a:blip>
          <a:srcRect/>
          <a:stretch/>
        </p:blipFill>
        <p:spPr>
          <a:xfrm>
            <a:off x="9161874" y="3655951"/>
            <a:ext cx="9108255" cy="66310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vider 02">
  <p:cSld name="Divider 02">
    <p:bg>
      <p:bgPr>
        <a:solidFill>
          <a:schemeClr val="accent1"/>
        </a:solidFill>
        <a:effectLst/>
      </p:bgPr>
    </p:bg>
    <p:spTree>
      <p:nvGrpSpPr>
        <p:cNvPr id="1" name="Shape 78"/>
        <p:cNvGrpSpPr/>
        <p:nvPr/>
      </p:nvGrpSpPr>
      <p:grpSpPr>
        <a:xfrm>
          <a:off x="0" y="0"/>
          <a:ext cx="0" cy="0"/>
          <a:chOff x="0" y="0"/>
          <a:chExt cx="0" cy="0"/>
        </a:xfrm>
      </p:grpSpPr>
      <p:sp>
        <p:nvSpPr>
          <p:cNvPr id="79" name="Google Shape;79;p10"/>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80" name="Google Shape;80;p10"/>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81" name="Google Shape;81;p10"/>
          <p:cNvSpPr txBox="1">
            <a:spLocks noGrp="1"/>
          </p:cNvSpPr>
          <p:nvPr>
            <p:ph type="ctrTitle"/>
          </p:nvPr>
        </p:nvSpPr>
        <p:spPr>
          <a:xfrm>
            <a:off x="705200" y="2313253"/>
            <a:ext cx="136356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10" title="swt25-cloud-06.png"/>
          <p:cNvPicPr preferRelativeResize="0"/>
          <p:nvPr/>
        </p:nvPicPr>
        <p:blipFill>
          <a:blip r:embed="rId2">
            <a:alphaModFix/>
          </a:blip>
          <a:stretch>
            <a:fillRect/>
          </a:stretch>
        </p:blipFill>
        <p:spPr>
          <a:xfrm>
            <a:off x="11383901" y="6724283"/>
            <a:ext cx="3362396" cy="1920912"/>
          </a:xfrm>
          <a:prstGeom prst="rect">
            <a:avLst/>
          </a:prstGeom>
          <a:noFill/>
          <a:ln>
            <a:noFill/>
          </a:ln>
        </p:spPr>
      </p:pic>
      <p:pic>
        <p:nvPicPr>
          <p:cNvPr id="83" name="Google Shape;83;p10" title="swt25-cloud-06.png"/>
          <p:cNvPicPr preferRelativeResize="0"/>
          <p:nvPr/>
        </p:nvPicPr>
        <p:blipFill>
          <a:blip r:embed="rId2">
            <a:alphaModFix/>
          </a:blip>
          <a:stretch>
            <a:fillRect/>
          </a:stretch>
        </p:blipFill>
        <p:spPr>
          <a:xfrm>
            <a:off x="14595649" y="5067298"/>
            <a:ext cx="2297600" cy="1312600"/>
          </a:xfrm>
          <a:prstGeom prst="rect">
            <a:avLst/>
          </a:prstGeom>
          <a:noFill/>
          <a:ln>
            <a:noFill/>
          </a:ln>
        </p:spPr>
      </p:pic>
      <p:pic>
        <p:nvPicPr>
          <p:cNvPr id="84" name="Google Shape;84;p10" title="swt25-vignette-6_right-corner-a.png"/>
          <p:cNvPicPr preferRelativeResize="0"/>
          <p:nvPr/>
        </p:nvPicPr>
        <p:blipFill rotWithShape="1">
          <a:blip r:embed="rId3">
            <a:alphaModFix/>
          </a:blip>
          <a:srcRect t="2508" b="2508"/>
          <a:stretch/>
        </p:blipFill>
        <p:spPr>
          <a:xfrm>
            <a:off x="9954050" y="4524100"/>
            <a:ext cx="8333947" cy="57629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use layout w/ 2-Line Title">
  <p:cSld name="Multi-use layout w/ 2-Line Title">
    <p:spTree>
      <p:nvGrpSpPr>
        <p:cNvPr id="1" name="Shape 100"/>
        <p:cNvGrpSpPr/>
        <p:nvPr/>
      </p:nvGrpSpPr>
      <p:grpSpPr>
        <a:xfrm>
          <a:off x="0" y="0"/>
          <a:ext cx="0" cy="0"/>
          <a:chOff x="0" y="0"/>
          <a:chExt cx="0" cy="0"/>
        </a:xfrm>
      </p:grpSpPr>
      <p:sp>
        <p:nvSpPr>
          <p:cNvPr id="101" name="Google Shape;101;p13"/>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02" name="Google Shape;102;p13"/>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29292"/>
              </a:buClr>
              <a:buSzPts val="1200"/>
              <a:buFont typeface="Arial"/>
              <a:buNone/>
            </a:pPr>
            <a:r>
              <a:rPr lang="en-US" sz="1200" b="0" i="0">
                <a:solidFill>
                  <a:srgbClr val="929292"/>
                </a:solidFill>
                <a:latin typeface="Arial"/>
                <a:ea typeface="Arial"/>
                <a:cs typeface="Arial"/>
                <a:sym typeface="Arial"/>
              </a:rPr>
              <a:t>© 202</a:t>
            </a:r>
            <a:r>
              <a:rPr lang="en-US" sz="1200">
                <a:solidFill>
                  <a:srgbClr val="929292"/>
                </a:solidFill>
              </a:rPr>
              <a:t>6</a:t>
            </a:r>
            <a:r>
              <a:rPr lang="en-US" sz="1200" b="0" i="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103" name="Google Shape;103;p13"/>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04" name="Google Shape;104;p13"/>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3"/>
          <p:cNvSpPr txBox="1">
            <a:spLocks noGrp="1"/>
          </p:cNvSpPr>
          <p:nvPr>
            <p:ph type="subTitle" idx="1"/>
          </p:nvPr>
        </p:nvSpPr>
        <p:spPr>
          <a:xfrm>
            <a:off x="731520" y="2034889"/>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lvl1pPr>
            <a:lvl2pPr lvl="1" algn="l">
              <a:lnSpc>
                <a:spcPct val="114000"/>
              </a:lnSpc>
              <a:spcBef>
                <a:spcPts val="2000"/>
              </a:spcBef>
              <a:spcAft>
                <a:spcPts val="0"/>
              </a:spcAft>
              <a:buSzPts val="1800"/>
              <a:buChar char="•"/>
              <a:defRPr/>
            </a:lvl2pPr>
            <a:lvl3pPr lvl="2" algn="l">
              <a:lnSpc>
                <a:spcPct val="114000"/>
              </a:lnSpc>
              <a:spcBef>
                <a:spcPts val="1200"/>
              </a:spcBef>
              <a:spcAft>
                <a:spcPts val="0"/>
              </a:spcAft>
              <a:buSzPts val="1800"/>
              <a:buChar char="•"/>
              <a:defRPr/>
            </a:lvl3pPr>
            <a:lvl4pPr lvl="3" algn="l">
              <a:lnSpc>
                <a:spcPct val="114000"/>
              </a:lnSpc>
              <a:spcBef>
                <a:spcPts val="1200"/>
              </a:spcBef>
              <a:spcAft>
                <a:spcPts val="0"/>
              </a:spcAft>
              <a:buSzPts val="1800"/>
              <a:buChar char="•"/>
              <a:defRPr/>
            </a:lvl4pPr>
            <a:lvl5pPr lvl="4" algn="l">
              <a:lnSpc>
                <a:spcPct val="114000"/>
              </a:lnSpc>
              <a:spcBef>
                <a:spcPts val="1200"/>
              </a:spcBef>
              <a:spcAft>
                <a:spcPts val="0"/>
              </a:spcAft>
              <a:buSzPts val="1800"/>
              <a:buChar char="•"/>
              <a:defRPr/>
            </a:lvl5pPr>
            <a:lvl6pPr lvl="5" algn="l">
              <a:lnSpc>
                <a:spcPct val="90000"/>
              </a:lnSpc>
              <a:spcBef>
                <a:spcPts val="1200"/>
              </a:spcBef>
              <a:spcAft>
                <a:spcPts val="0"/>
              </a:spcAft>
              <a:buClr>
                <a:schemeClr val="dk1"/>
              </a:buClr>
              <a:buSzPts val="1800"/>
              <a:buChar char="•"/>
              <a:defRPr/>
            </a:lvl6pPr>
            <a:lvl7pPr lvl="6" algn="l">
              <a:lnSpc>
                <a:spcPct val="90000"/>
              </a:lnSpc>
              <a:spcBef>
                <a:spcPts val="800"/>
              </a:spcBef>
              <a:spcAft>
                <a:spcPts val="0"/>
              </a:spcAft>
              <a:buClr>
                <a:schemeClr val="dk1"/>
              </a:buClr>
              <a:buSzPts val="1800"/>
              <a:buChar char="•"/>
              <a:defRPr/>
            </a:lvl7pPr>
            <a:lvl8pPr lvl="7" algn="l">
              <a:lnSpc>
                <a:spcPct val="90000"/>
              </a:lnSpc>
              <a:spcBef>
                <a:spcPts val="800"/>
              </a:spcBef>
              <a:spcAft>
                <a:spcPts val="0"/>
              </a:spcAft>
              <a:buClr>
                <a:schemeClr val="dk1"/>
              </a:buClr>
              <a:buSzPts val="1800"/>
              <a:buChar char="•"/>
              <a:defRPr/>
            </a:lvl8pPr>
            <a:lvl9pPr lvl="8" algn="l">
              <a:lnSpc>
                <a:spcPct val="90000"/>
              </a:lnSpc>
              <a:spcBef>
                <a:spcPts val="800"/>
              </a:spcBef>
              <a:spcAft>
                <a:spcPts val="0"/>
              </a:spcAft>
              <a:buClr>
                <a:schemeClr val="dk1"/>
              </a:buClr>
              <a:buSzPts val="1800"/>
              <a:buChar char="•"/>
              <a:defRPr/>
            </a:lvl9pPr>
          </a:lstStyle>
          <a:p>
            <a:endParaRPr/>
          </a:p>
        </p:txBody>
      </p:sp>
      <p:sp>
        <p:nvSpPr>
          <p:cNvPr id="106" name="Google Shape;106;p13"/>
          <p:cNvSpPr/>
          <p:nvPr/>
        </p:nvSpPr>
        <p:spPr>
          <a:xfrm>
            <a:off x="0" y="687610"/>
            <a:ext cx="274200" cy="15252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use layout_image">
  <p:cSld name="Multi-use layout_image">
    <p:spTree>
      <p:nvGrpSpPr>
        <p:cNvPr id="1" name="Shape 107"/>
        <p:cNvGrpSpPr/>
        <p:nvPr/>
      </p:nvGrpSpPr>
      <p:grpSpPr>
        <a:xfrm>
          <a:off x="0" y="0"/>
          <a:ext cx="0" cy="0"/>
          <a:chOff x="0" y="0"/>
          <a:chExt cx="0" cy="0"/>
        </a:xfrm>
      </p:grpSpPr>
      <p:sp>
        <p:nvSpPr>
          <p:cNvPr id="108" name="Google Shape;108;p14"/>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09" name="Google Shape;109;p14"/>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110" name="Google Shape;110;p14"/>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11" name="Google Shape;111;p14"/>
          <p:cNvSpPr txBox="1">
            <a:spLocks noGrp="1"/>
          </p:cNvSpPr>
          <p:nvPr>
            <p:ph type="body" idx="1"/>
          </p:nvPr>
        </p:nvSpPr>
        <p:spPr>
          <a:xfrm>
            <a:off x="914391" y="2451100"/>
            <a:ext cx="16535400" cy="69594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12" name="Google Shape;112;p14"/>
          <p:cNvSpPr txBox="1">
            <a:spLocks noGrp="1"/>
          </p:cNvSpPr>
          <p:nvPr>
            <p:ph type="subTitle" idx="2"/>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13" name="Google Shape;113;p14"/>
          <p:cNvSpPr txBox="1">
            <a:spLocks noGrp="1"/>
          </p:cNvSpPr>
          <p:nvPr>
            <p:ph type="title"/>
          </p:nvPr>
        </p:nvSpPr>
        <p:spPr>
          <a:xfrm>
            <a:off x="731525" y="549126"/>
            <a:ext cx="16689600" cy="7320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a:lvl1pPr>
            <a:lvl2pPr lvl="1">
              <a:lnSpc>
                <a:spcPct val="85000"/>
              </a:lnSpc>
              <a:spcBef>
                <a:spcPts val="2000"/>
              </a:spcBef>
              <a:spcAft>
                <a:spcPts val="0"/>
              </a:spcAft>
              <a:buSzPts val="2800"/>
              <a:buNone/>
              <a:defRPr/>
            </a:lvl2pPr>
            <a:lvl3pPr lvl="2">
              <a:lnSpc>
                <a:spcPct val="85000"/>
              </a:lnSpc>
              <a:spcBef>
                <a:spcPts val="2000"/>
              </a:spcBef>
              <a:spcAft>
                <a:spcPts val="0"/>
              </a:spcAft>
              <a:buSzPts val="2800"/>
              <a:buNone/>
              <a:defRPr/>
            </a:lvl3pPr>
            <a:lvl4pPr lvl="3">
              <a:lnSpc>
                <a:spcPct val="85000"/>
              </a:lnSpc>
              <a:spcBef>
                <a:spcPts val="2000"/>
              </a:spcBef>
              <a:spcAft>
                <a:spcPts val="0"/>
              </a:spcAft>
              <a:buSzPts val="2800"/>
              <a:buNone/>
              <a:defRPr/>
            </a:lvl4pPr>
            <a:lvl5pPr lvl="4">
              <a:lnSpc>
                <a:spcPct val="85000"/>
              </a:lnSpc>
              <a:spcBef>
                <a:spcPts val="2000"/>
              </a:spcBef>
              <a:spcAft>
                <a:spcPts val="0"/>
              </a:spcAft>
              <a:buSzPts val="2800"/>
              <a:buNone/>
              <a:defRPr/>
            </a:lvl5pPr>
            <a:lvl6pPr lvl="5">
              <a:lnSpc>
                <a:spcPct val="85000"/>
              </a:lnSpc>
              <a:spcBef>
                <a:spcPts val="2000"/>
              </a:spcBef>
              <a:spcAft>
                <a:spcPts val="0"/>
              </a:spcAft>
              <a:buSzPts val="2800"/>
              <a:buNone/>
              <a:defRPr/>
            </a:lvl6pPr>
            <a:lvl7pPr lvl="6">
              <a:lnSpc>
                <a:spcPct val="85000"/>
              </a:lnSpc>
              <a:spcBef>
                <a:spcPts val="2000"/>
              </a:spcBef>
              <a:spcAft>
                <a:spcPts val="0"/>
              </a:spcAft>
              <a:buSzPts val="2800"/>
              <a:buNone/>
              <a:defRPr/>
            </a:lvl7pPr>
            <a:lvl8pPr lvl="7">
              <a:lnSpc>
                <a:spcPct val="85000"/>
              </a:lnSpc>
              <a:spcBef>
                <a:spcPts val="2000"/>
              </a:spcBef>
              <a:spcAft>
                <a:spcPts val="0"/>
              </a:spcAft>
              <a:buSzPts val="2800"/>
              <a:buNone/>
              <a:defRPr/>
            </a:lvl8pPr>
            <a:lvl9pPr lvl="8">
              <a:lnSpc>
                <a:spcPct val="85000"/>
              </a:lnSpc>
              <a:spcBef>
                <a:spcPts val="2000"/>
              </a:spcBef>
              <a:spcAft>
                <a:spcPts val="2000"/>
              </a:spcAft>
              <a:buSzPts val="2800"/>
              <a:buNone/>
              <a:defRPr/>
            </a:lvl9pPr>
          </a:lstStyle>
          <a:p>
            <a:endParaRPr/>
          </a:p>
        </p:txBody>
      </p:sp>
      <p:sp>
        <p:nvSpPr>
          <p:cNvPr id="114" name="Google Shape;114;p14"/>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Layout_image">
  <p:cSld name="One Column Layout_image">
    <p:spTree>
      <p:nvGrpSpPr>
        <p:cNvPr id="1" name="Shape 123"/>
        <p:cNvGrpSpPr/>
        <p:nvPr/>
      </p:nvGrpSpPr>
      <p:grpSpPr>
        <a:xfrm>
          <a:off x="0" y="0"/>
          <a:ext cx="0" cy="0"/>
          <a:chOff x="0" y="0"/>
          <a:chExt cx="0" cy="0"/>
        </a:xfrm>
      </p:grpSpPr>
      <p:sp>
        <p:nvSpPr>
          <p:cNvPr id="124" name="Google Shape;124;p16"/>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25" name="Google Shape;125;p16"/>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126" name="Google Shape;126;p16"/>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27" name="Google Shape;127;p16"/>
          <p:cNvSpPr txBox="1">
            <a:spLocks noGrp="1"/>
          </p:cNvSpPr>
          <p:nvPr>
            <p:ph type="body" idx="1"/>
          </p:nvPr>
        </p:nvSpPr>
        <p:spPr>
          <a:xfrm>
            <a:off x="9372600" y="2834596"/>
            <a:ext cx="8077200" cy="65760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28" name="Google Shape;128;p16"/>
          <p:cNvSpPr txBox="1">
            <a:spLocks noGrp="1"/>
          </p:cNvSpPr>
          <p:nvPr>
            <p:ph type="body" idx="2"/>
          </p:nvPr>
        </p:nvSpPr>
        <p:spPr>
          <a:xfrm>
            <a:off x="709118" y="2835276"/>
            <a:ext cx="80010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29" name="Google Shape;129;p16"/>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6"/>
          <p:cNvSpPr txBox="1">
            <a:spLocks noGrp="1"/>
          </p:cNvSpPr>
          <p:nvPr>
            <p:ph type="subTitle" idx="3"/>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31" name="Google Shape;131;p16"/>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lumn Layout w/ Titles">
  <p:cSld name="Two Column Layout w/ Titles">
    <p:spTree>
      <p:nvGrpSpPr>
        <p:cNvPr id="1" name="Shape 141"/>
        <p:cNvGrpSpPr/>
        <p:nvPr/>
      </p:nvGrpSpPr>
      <p:grpSpPr>
        <a:xfrm>
          <a:off x="0" y="0"/>
          <a:ext cx="0" cy="0"/>
          <a:chOff x="0" y="0"/>
          <a:chExt cx="0" cy="0"/>
        </a:xfrm>
      </p:grpSpPr>
      <p:sp>
        <p:nvSpPr>
          <p:cNvPr id="142" name="Google Shape;142;p18"/>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43" name="Google Shape;143;p18"/>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144" name="Google Shape;144;p18"/>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45" name="Google Shape;145;p18"/>
          <p:cNvSpPr txBox="1">
            <a:spLocks noGrp="1"/>
          </p:cNvSpPr>
          <p:nvPr>
            <p:ph type="body" idx="1"/>
          </p:nvPr>
        </p:nvSpPr>
        <p:spPr>
          <a:xfrm>
            <a:off x="709116" y="2692714"/>
            <a:ext cx="80298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6" name="Google Shape;146;p18"/>
          <p:cNvSpPr txBox="1">
            <a:spLocks noGrp="1"/>
          </p:cNvSpPr>
          <p:nvPr>
            <p:ph type="body" idx="2"/>
          </p:nvPr>
        </p:nvSpPr>
        <p:spPr>
          <a:xfrm>
            <a:off x="9380277" y="2692714"/>
            <a:ext cx="80694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7" name="Google Shape;147;p18"/>
          <p:cNvSpPr txBox="1">
            <a:spLocks noGrp="1"/>
          </p:cNvSpPr>
          <p:nvPr>
            <p:ph type="body" idx="3"/>
          </p:nvPr>
        </p:nvSpPr>
        <p:spPr>
          <a:xfrm>
            <a:off x="709116" y="3483461"/>
            <a:ext cx="8001000" cy="5927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8" name="Google Shape;148;p18"/>
          <p:cNvSpPr txBox="1">
            <a:spLocks noGrp="1"/>
          </p:cNvSpPr>
          <p:nvPr>
            <p:ph type="body" idx="4"/>
          </p:nvPr>
        </p:nvSpPr>
        <p:spPr>
          <a:xfrm>
            <a:off x="9372601" y="3482781"/>
            <a:ext cx="8077200" cy="5927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9" name="Google Shape;149;p18"/>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18"/>
          <p:cNvSpPr txBox="1">
            <a:spLocks noGrp="1"/>
          </p:cNvSpPr>
          <p:nvPr>
            <p:ph type="subTitle" idx="5"/>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51" name="Google Shape;151;p18"/>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 Layout">
  <p:cSld name="Three Column Layout">
    <p:spTree>
      <p:nvGrpSpPr>
        <p:cNvPr id="1" name="Shape 152"/>
        <p:cNvGrpSpPr/>
        <p:nvPr/>
      </p:nvGrpSpPr>
      <p:grpSpPr>
        <a:xfrm>
          <a:off x="0" y="0"/>
          <a:ext cx="0" cy="0"/>
          <a:chOff x="0" y="0"/>
          <a:chExt cx="0" cy="0"/>
        </a:xfrm>
      </p:grpSpPr>
      <p:sp>
        <p:nvSpPr>
          <p:cNvPr id="153" name="Google Shape;153;p19"/>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54" name="Google Shape;154;p19"/>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55" name="Google Shape;155;p19"/>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56" name="Google Shape;156;p19"/>
          <p:cNvSpPr txBox="1">
            <a:spLocks noGrp="1"/>
          </p:cNvSpPr>
          <p:nvPr>
            <p:ph type="body" idx="1"/>
          </p:nvPr>
        </p:nvSpPr>
        <p:spPr>
          <a:xfrm>
            <a:off x="709116" y="2832714"/>
            <a:ext cx="51582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57" name="Google Shape;157;p19"/>
          <p:cNvSpPr txBox="1">
            <a:spLocks noGrp="1"/>
          </p:cNvSpPr>
          <p:nvPr>
            <p:ph type="body" idx="2"/>
          </p:nvPr>
        </p:nvSpPr>
        <p:spPr>
          <a:xfrm>
            <a:off x="6359214" y="2832714"/>
            <a:ext cx="53640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58" name="Google Shape;158;p19"/>
          <p:cNvSpPr txBox="1">
            <a:spLocks noGrp="1"/>
          </p:cNvSpPr>
          <p:nvPr>
            <p:ph type="body" idx="3"/>
          </p:nvPr>
        </p:nvSpPr>
        <p:spPr>
          <a:xfrm>
            <a:off x="12215685" y="2832034"/>
            <a:ext cx="52344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59" name="Google Shape;159;p19"/>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19"/>
          <p:cNvSpPr txBox="1">
            <a:spLocks noGrp="1"/>
          </p:cNvSpPr>
          <p:nvPr>
            <p:ph type="subTitle" idx="4"/>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61" name="Google Shape;161;p19"/>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lumn +image">
  <p:cSld name="Two Column +image">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709116" y="2828926"/>
            <a:ext cx="51582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64" name="Google Shape;164;p20"/>
          <p:cNvSpPr txBox="1">
            <a:spLocks noGrp="1"/>
          </p:cNvSpPr>
          <p:nvPr>
            <p:ph type="body" idx="2"/>
          </p:nvPr>
        </p:nvSpPr>
        <p:spPr>
          <a:xfrm>
            <a:off x="6368228" y="2828926"/>
            <a:ext cx="53640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65" name="Google Shape;165;p20"/>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66" name="Google Shape;166;p20"/>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67" name="Google Shape;167;p20"/>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68" name="Google Shape;168;p20"/>
          <p:cNvSpPr txBox="1">
            <a:spLocks noGrp="1"/>
          </p:cNvSpPr>
          <p:nvPr>
            <p:ph type="body" idx="3"/>
          </p:nvPr>
        </p:nvSpPr>
        <p:spPr>
          <a:xfrm>
            <a:off x="12233714" y="2834596"/>
            <a:ext cx="5215800" cy="65760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69" name="Google Shape;169;p20"/>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 name="Google Shape;170;p20"/>
          <p:cNvSpPr txBox="1">
            <a:spLocks noGrp="1"/>
          </p:cNvSpPr>
          <p:nvPr>
            <p:ph type="subTitle" idx="4"/>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71" name="Google Shape;171;p20"/>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Column Layout">
  <p:cSld name="Four Column Layout">
    <p:spTree>
      <p:nvGrpSpPr>
        <p:cNvPr id="1" name="Shape 172"/>
        <p:cNvGrpSpPr/>
        <p:nvPr/>
      </p:nvGrpSpPr>
      <p:grpSpPr>
        <a:xfrm>
          <a:off x="0" y="0"/>
          <a:ext cx="0" cy="0"/>
          <a:chOff x="0" y="0"/>
          <a:chExt cx="0" cy="0"/>
        </a:xfrm>
      </p:grpSpPr>
      <p:sp>
        <p:nvSpPr>
          <p:cNvPr id="173" name="Google Shape;173;p21"/>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74" name="Google Shape;174;p21"/>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75" name="Google Shape;175;p21"/>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76" name="Google Shape;176;p21"/>
          <p:cNvSpPr txBox="1">
            <a:spLocks noGrp="1"/>
          </p:cNvSpPr>
          <p:nvPr>
            <p:ph type="body" idx="1"/>
          </p:nvPr>
        </p:nvSpPr>
        <p:spPr>
          <a:xfrm>
            <a:off x="709116" y="2850644"/>
            <a:ext cx="37338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77" name="Google Shape;177;p21"/>
          <p:cNvSpPr txBox="1">
            <a:spLocks noGrp="1"/>
          </p:cNvSpPr>
          <p:nvPr>
            <p:ph type="body" idx="2"/>
          </p:nvPr>
        </p:nvSpPr>
        <p:spPr>
          <a:xfrm>
            <a:off x="5033641" y="2850644"/>
            <a:ext cx="37338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78" name="Google Shape;178;p21"/>
          <p:cNvSpPr txBox="1">
            <a:spLocks noGrp="1"/>
          </p:cNvSpPr>
          <p:nvPr>
            <p:ph type="body" idx="3"/>
          </p:nvPr>
        </p:nvSpPr>
        <p:spPr>
          <a:xfrm>
            <a:off x="9358166" y="2850644"/>
            <a:ext cx="37896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79" name="Google Shape;179;p21"/>
          <p:cNvSpPr txBox="1">
            <a:spLocks noGrp="1"/>
          </p:cNvSpPr>
          <p:nvPr>
            <p:ph type="body" idx="4"/>
          </p:nvPr>
        </p:nvSpPr>
        <p:spPr>
          <a:xfrm>
            <a:off x="13738472" y="2850644"/>
            <a:ext cx="37134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0" name="Google Shape;180;p21"/>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1"/>
          <p:cNvSpPr txBox="1">
            <a:spLocks noGrp="1"/>
          </p:cNvSpPr>
          <p:nvPr>
            <p:ph type="subTitle" idx="5"/>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82" name="Google Shape;182;p21"/>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Column Layout w titles">
  <p:cSld name="Four Column Layout w titles">
    <p:spTree>
      <p:nvGrpSpPr>
        <p:cNvPr id="1" name="Shape 183"/>
        <p:cNvGrpSpPr/>
        <p:nvPr/>
      </p:nvGrpSpPr>
      <p:grpSpPr>
        <a:xfrm>
          <a:off x="0" y="0"/>
          <a:ext cx="0" cy="0"/>
          <a:chOff x="0" y="0"/>
          <a:chExt cx="0" cy="0"/>
        </a:xfrm>
      </p:grpSpPr>
      <p:sp>
        <p:nvSpPr>
          <p:cNvPr id="184" name="Google Shape;184;p22"/>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85" name="Google Shape;185;p22"/>
          <p:cNvSpPr txBox="1"/>
          <p:nvPr/>
        </p:nvSpPr>
        <p:spPr>
          <a:xfrm>
            <a:off x="16668499"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86" name="Google Shape;186;p22"/>
          <p:cNvSpPr txBox="1">
            <a:spLocks noGrp="1"/>
          </p:cNvSpPr>
          <p:nvPr>
            <p:ph type="body" idx="1"/>
          </p:nvPr>
        </p:nvSpPr>
        <p:spPr>
          <a:xfrm>
            <a:off x="709116" y="2728960"/>
            <a:ext cx="37506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7" name="Google Shape;187;p22"/>
          <p:cNvSpPr txBox="1">
            <a:spLocks noGrp="1"/>
          </p:cNvSpPr>
          <p:nvPr>
            <p:ph type="body" idx="2"/>
          </p:nvPr>
        </p:nvSpPr>
        <p:spPr>
          <a:xfrm>
            <a:off x="5012382" y="2728960"/>
            <a:ext cx="37530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8" name="Google Shape;188;p22"/>
          <p:cNvSpPr txBox="1">
            <a:spLocks noGrp="1"/>
          </p:cNvSpPr>
          <p:nvPr>
            <p:ph type="body" idx="3"/>
          </p:nvPr>
        </p:nvSpPr>
        <p:spPr>
          <a:xfrm>
            <a:off x="9317568" y="2728960"/>
            <a:ext cx="38460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9" name="Google Shape;189;p22"/>
          <p:cNvSpPr txBox="1">
            <a:spLocks noGrp="1"/>
          </p:cNvSpPr>
          <p:nvPr>
            <p:ph type="body" idx="4"/>
          </p:nvPr>
        </p:nvSpPr>
        <p:spPr>
          <a:xfrm>
            <a:off x="13715998" y="2728960"/>
            <a:ext cx="37338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0" name="Google Shape;190;p22"/>
          <p:cNvSpPr txBox="1">
            <a:spLocks noGrp="1"/>
          </p:cNvSpPr>
          <p:nvPr>
            <p:ph type="body" idx="5"/>
          </p:nvPr>
        </p:nvSpPr>
        <p:spPr>
          <a:xfrm>
            <a:off x="709116" y="3526367"/>
            <a:ext cx="37338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1" name="Google Shape;191;p22"/>
          <p:cNvSpPr txBox="1">
            <a:spLocks noGrp="1"/>
          </p:cNvSpPr>
          <p:nvPr>
            <p:ph type="body" idx="6"/>
          </p:nvPr>
        </p:nvSpPr>
        <p:spPr>
          <a:xfrm>
            <a:off x="5012383" y="3526367"/>
            <a:ext cx="37338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2" name="Google Shape;192;p22"/>
          <p:cNvSpPr txBox="1">
            <a:spLocks noGrp="1"/>
          </p:cNvSpPr>
          <p:nvPr>
            <p:ph type="body" idx="7"/>
          </p:nvPr>
        </p:nvSpPr>
        <p:spPr>
          <a:xfrm>
            <a:off x="9317568" y="3526367"/>
            <a:ext cx="37704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3" name="Google Shape;193;p22"/>
          <p:cNvSpPr txBox="1">
            <a:spLocks noGrp="1"/>
          </p:cNvSpPr>
          <p:nvPr>
            <p:ph type="body" idx="8"/>
          </p:nvPr>
        </p:nvSpPr>
        <p:spPr>
          <a:xfrm>
            <a:off x="13715998" y="3526367"/>
            <a:ext cx="37134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4" name="Google Shape;194;p22"/>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22"/>
          <p:cNvSpPr txBox="1">
            <a:spLocks noGrp="1"/>
          </p:cNvSpPr>
          <p:nvPr>
            <p:ph type="subTitle" idx="9"/>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96" name="Google Shape;196;p22"/>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
        <p:nvSpPr>
          <p:cNvPr id="197" name="Google Shape;197;p22"/>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plit Layout">
  <p:cSld name="Split Layout">
    <p:spTree>
      <p:nvGrpSpPr>
        <p:cNvPr id="1" name="Shape 198"/>
        <p:cNvGrpSpPr/>
        <p:nvPr/>
      </p:nvGrpSpPr>
      <p:grpSpPr>
        <a:xfrm>
          <a:off x="0" y="0"/>
          <a:ext cx="0" cy="0"/>
          <a:chOff x="0" y="0"/>
          <a:chExt cx="0" cy="0"/>
        </a:xfrm>
      </p:grpSpPr>
      <p:sp>
        <p:nvSpPr>
          <p:cNvPr id="199" name="Google Shape;199;p23"/>
          <p:cNvSpPr/>
          <p:nvPr/>
        </p:nvSpPr>
        <p:spPr>
          <a:xfrm>
            <a:off x="9350320" y="0"/>
            <a:ext cx="8937600" cy="10287000"/>
          </a:xfrm>
          <a:prstGeom prst="rect">
            <a:avLst/>
          </a:prstGeom>
          <a:solidFill>
            <a:schemeClr val="dk2"/>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7200"/>
              <a:buFont typeface="Arial"/>
              <a:buNone/>
            </a:pPr>
            <a:endParaRPr sz="7200">
              <a:solidFill>
                <a:schemeClr val="dk1"/>
              </a:solidFill>
              <a:latin typeface="Arial"/>
              <a:ea typeface="Arial"/>
              <a:cs typeface="Arial"/>
              <a:sym typeface="Arial"/>
            </a:endParaRPr>
          </a:p>
        </p:txBody>
      </p:sp>
      <p:sp>
        <p:nvSpPr>
          <p:cNvPr id="200" name="Google Shape;200;p23"/>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01" name="Google Shape;201;p23"/>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202" name="Google Shape;202;p23"/>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chemeClr val="lt1"/>
                </a:solidFill>
                <a:latin typeface="Arial"/>
                <a:ea typeface="Arial"/>
                <a:cs typeface="Arial"/>
                <a:sym typeface="Arial"/>
              </a:rPr>
              <a:t>‹#›</a:t>
            </a:fld>
            <a:endParaRPr sz="1200" i="0">
              <a:solidFill>
                <a:schemeClr val="lt1"/>
              </a:solidFill>
              <a:latin typeface="Arial"/>
              <a:ea typeface="Arial"/>
              <a:cs typeface="Arial"/>
              <a:sym typeface="Arial"/>
            </a:endParaRPr>
          </a:p>
        </p:txBody>
      </p:sp>
      <p:sp>
        <p:nvSpPr>
          <p:cNvPr id="203" name="Google Shape;203;p23"/>
          <p:cNvSpPr txBox="1">
            <a:spLocks noGrp="1"/>
          </p:cNvSpPr>
          <p:nvPr>
            <p:ph type="body" idx="1"/>
          </p:nvPr>
        </p:nvSpPr>
        <p:spPr>
          <a:xfrm>
            <a:off x="914400" y="3089276"/>
            <a:ext cx="8001000" cy="63216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04" name="Google Shape;204;p23"/>
          <p:cNvSpPr txBox="1">
            <a:spLocks noGrp="1"/>
          </p:cNvSpPr>
          <p:nvPr>
            <p:ph type="body" idx="2"/>
          </p:nvPr>
        </p:nvSpPr>
        <p:spPr>
          <a:xfrm>
            <a:off x="10051366" y="3089276"/>
            <a:ext cx="7629000" cy="63216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chemeClr val="lt1"/>
              </a:buClr>
              <a:buSzPts val="3600"/>
              <a:buNone/>
              <a:defRPr>
                <a:solidFill>
                  <a:schemeClr val="lt1"/>
                </a:solidFill>
              </a:defRPr>
            </a:lvl1pPr>
            <a:lvl2pPr marL="914400" lvl="1" indent="-457200" algn="l">
              <a:lnSpc>
                <a:spcPct val="114000"/>
              </a:lnSpc>
              <a:spcBef>
                <a:spcPts val="2000"/>
              </a:spcBef>
              <a:spcAft>
                <a:spcPts val="0"/>
              </a:spcAft>
              <a:buSzPts val="3600"/>
              <a:buChar char="•"/>
              <a:defRPr>
                <a:solidFill>
                  <a:schemeClr val="lt1"/>
                </a:solidFill>
              </a:defRPr>
            </a:lvl2pPr>
            <a:lvl3pPr marL="1371600" lvl="2" indent="-419100" algn="l">
              <a:lnSpc>
                <a:spcPct val="114000"/>
              </a:lnSpc>
              <a:spcBef>
                <a:spcPts val="1200"/>
              </a:spcBef>
              <a:spcAft>
                <a:spcPts val="0"/>
              </a:spcAft>
              <a:buSzPts val="3000"/>
              <a:buChar char="•"/>
              <a:defRPr>
                <a:solidFill>
                  <a:schemeClr val="lt1"/>
                </a:solidFill>
              </a:defRPr>
            </a:lvl3pPr>
            <a:lvl4pPr marL="1828800" lvl="3" indent="-406400" algn="l">
              <a:lnSpc>
                <a:spcPct val="114000"/>
              </a:lnSpc>
              <a:spcBef>
                <a:spcPts val="1200"/>
              </a:spcBef>
              <a:spcAft>
                <a:spcPts val="0"/>
              </a:spcAft>
              <a:buSzPts val="2800"/>
              <a:buChar char="•"/>
              <a:defRPr>
                <a:solidFill>
                  <a:schemeClr val="lt1"/>
                </a:solidFill>
              </a:defRPr>
            </a:lvl4pPr>
            <a:lvl5pPr marL="2286000" lvl="4" indent="-406400" algn="l">
              <a:lnSpc>
                <a:spcPct val="114000"/>
              </a:lnSpc>
              <a:spcBef>
                <a:spcPts val="1200"/>
              </a:spcBef>
              <a:spcAft>
                <a:spcPts val="0"/>
              </a:spcAft>
              <a:buSzPts val="2800"/>
              <a:buChar char="•"/>
              <a:defRPr>
                <a:solidFill>
                  <a:schemeClr val="lt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05" name="Google Shape;205;p23"/>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
        <p:nvSpPr>
          <p:cNvPr id="206" name="Google Shape;206;p23"/>
          <p:cNvSpPr txBox="1">
            <a:spLocks noGrp="1"/>
          </p:cNvSpPr>
          <p:nvPr>
            <p:ph type="title"/>
          </p:nvPr>
        </p:nvSpPr>
        <p:spPr>
          <a:xfrm>
            <a:off x="731520" y="548640"/>
            <a:ext cx="81828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23"/>
          <p:cNvSpPr txBox="1">
            <a:spLocks noGrp="1"/>
          </p:cNvSpPr>
          <p:nvPr>
            <p:ph type="subTitle" idx="3"/>
          </p:nvPr>
        </p:nvSpPr>
        <p:spPr>
          <a:xfrm>
            <a:off x="731520" y="1311736"/>
            <a:ext cx="82062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 You">
  <p:cSld name="Thank You 01_1">
    <p:bg>
      <p:bgPr>
        <a:solidFill>
          <a:schemeClr val="accent1"/>
        </a:solidFill>
        <a:effectLst/>
      </p:bgPr>
    </p:bg>
    <p:spTree>
      <p:nvGrpSpPr>
        <p:cNvPr id="1" name="Shape 217"/>
        <p:cNvGrpSpPr/>
        <p:nvPr/>
      </p:nvGrpSpPr>
      <p:grpSpPr>
        <a:xfrm>
          <a:off x="0" y="0"/>
          <a:ext cx="0" cy="0"/>
          <a:chOff x="0" y="0"/>
          <a:chExt cx="0" cy="0"/>
        </a:xfrm>
      </p:grpSpPr>
      <p:sp>
        <p:nvSpPr>
          <p:cNvPr id="218" name="Google Shape;218;p25"/>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19" name="Google Shape;219;p25"/>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220" name="Google Shape;220;p25"/>
          <p:cNvSpPr/>
          <p:nvPr/>
        </p:nvSpPr>
        <p:spPr>
          <a:xfrm rot="2700000">
            <a:off x="14001291" y="7437476"/>
            <a:ext cx="505723" cy="505299"/>
          </a:xfrm>
          <a:prstGeom prst="rect">
            <a:avLst/>
          </a:prstGeom>
          <a:solidFill>
            <a:schemeClr val="accent1"/>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pic>
        <p:nvPicPr>
          <p:cNvPr id="221" name="Google Shape;221;p25" title="swt25-cloud-06.png"/>
          <p:cNvPicPr preferRelativeResize="0"/>
          <p:nvPr/>
        </p:nvPicPr>
        <p:blipFill>
          <a:blip r:embed="rId2">
            <a:alphaModFix/>
          </a:blip>
          <a:stretch>
            <a:fillRect/>
          </a:stretch>
        </p:blipFill>
        <p:spPr>
          <a:xfrm>
            <a:off x="14364362" y="5806902"/>
            <a:ext cx="3749724" cy="2142165"/>
          </a:xfrm>
          <a:prstGeom prst="rect">
            <a:avLst/>
          </a:prstGeom>
          <a:noFill/>
          <a:ln>
            <a:noFill/>
          </a:ln>
        </p:spPr>
      </p:pic>
      <p:pic>
        <p:nvPicPr>
          <p:cNvPr id="222" name="Google Shape;222;p25" title="swt25-cloud-06.png"/>
          <p:cNvPicPr preferRelativeResize="0"/>
          <p:nvPr/>
        </p:nvPicPr>
        <p:blipFill>
          <a:blip r:embed="rId2">
            <a:alphaModFix/>
          </a:blip>
          <a:stretch>
            <a:fillRect/>
          </a:stretch>
        </p:blipFill>
        <p:spPr>
          <a:xfrm>
            <a:off x="10121371" y="6944385"/>
            <a:ext cx="2893138" cy="1652801"/>
          </a:xfrm>
          <a:prstGeom prst="rect">
            <a:avLst/>
          </a:prstGeom>
          <a:noFill/>
          <a:ln>
            <a:noFill/>
          </a:ln>
        </p:spPr>
      </p:pic>
      <p:pic>
        <p:nvPicPr>
          <p:cNvPr id="223" name="Google Shape;223;p25" title="swt25-cloud-06.png"/>
          <p:cNvPicPr preferRelativeResize="0"/>
          <p:nvPr/>
        </p:nvPicPr>
        <p:blipFill>
          <a:blip r:embed="rId2">
            <a:alphaModFix/>
          </a:blip>
          <a:stretch>
            <a:fillRect/>
          </a:stretch>
        </p:blipFill>
        <p:spPr>
          <a:xfrm>
            <a:off x="12588521" y="5554847"/>
            <a:ext cx="2098596" cy="1198905"/>
          </a:xfrm>
          <a:prstGeom prst="rect">
            <a:avLst/>
          </a:prstGeom>
          <a:noFill/>
          <a:ln>
            <a:noFill/>
          </a:ln>
        </p:spPr>
      </p:pic>
      <p:pic>
        <p:nvPicPr>
          <p:cNvPr id="224" name="Google Shape;224;p25" title="sno25-swt-vignettes-r7-rgb_right-corner-2.png"/>
          <p:cNvPicPr preferRelativeResize="0"/>
          <p:nvPr/>
        </p:nvPicPr>
        <p:blipFill rotWithShape="1">
          <a:blip r:embed="rId3">
            <a:alphaModFix/>
          </a:blip>
          <a:srcRect l="4271" r="4271"/>
          <a:stretch/>
        </p:blipFill>
        <p:spPr>
          <a:xfrm>
            <a:off x="8215349" y="4463100"/>
            <a:ext cx="10072648" cy="5823897"/>
          </a:xfrm>
          <a:prstGeom prst="rect">
            <a:avLst/>
          </a:prstGeom>
          <a:noFill/>
          <a:ln>
            <a:noFill/>
          </a:ln>
        </p:spPr>
      </p:pic>
      <p:sp>
        <p:nvSpPr>
          <p:cNvPr id="225" name="Google Shape;225;p25"/>
          <p:cNvSpPr txBox="1">
            <a:spLocks noGrp="1"/>
          </p:cNvSpPr>
          <p:nvPr>
            <p:ph type="ctrTitle"/>
          </p:nvPr>
        </p:nvSpPr>
        <p:spPr>
          <a:xfrm>
            <a:off x="705200" y="2313250"/>
            <a:ext cx="111678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ulti-use layout w/ 2-Line Title_image">
  <p:cSld name="Multi-use layout w/ 2-Line Title_image">
    <p:spTree>
      <p:nvGrpSpPr>
        <p:cNvPr id="1" name="Shape 226"/>
        <p:cNvGrpSpPr/>
        <p:nvPr/>
      </p:nvGrpSpPr>
      <p:grpSpPr>
        <a:xfrm>
          <a:off x="0" y="0"/>
          <a:ext cx="0" cy="0"/>
          <a:chOff x="0" y="0"/>
          <a:chExt cx="0" cy="0"/>
        </a:xfrm>
      </p:grpSpPr>
      <p:sp>
        <p:nvSpPr>
          <p:cNvPr id="227" name="Google Shape;227;p26"/>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28" name="Google Shape;228;p26"/>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29" name="Google Shape;229;p26"/>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30" name="Google Shape;230;p26"/>
          <p:cNvSpPr txBox="1">
            <a:spLocks noGrp="1"/>
          </p:cNvSpPr>
          <p:nvPr>
            <p:ph type="body" idx="1"/>
          </p:nvPr>
        </p:nvSpPr>
        <p:spPr>
          <a:xfrm>
            <a:off x="9372600" y="2957241"/>
            <a:ext cx="8077200" cy="64536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31" name="Google Shape;231;p26"/>
          <p:cNvSpPr txBox="1">
            <a:spLocks noGrp="1"/>
          </p:cNvSpPr>
          <p:nvPr>
            <p:ph type="subTitle" idx="2"/>
          </p:nvPr>
        </p:nvSpPr>
        <p:spPr>
          <a:xfrm>
            <a:off x="731520" y="2246730"/>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32" name="Google Shape;232;p26"/>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26"/>
          <p:cNvSpPr/>
          <p:nvPr/>
        </p:nvSpPr>
        <p:spPr>
          <a:xfrm>
            <a:off x="0" y="687610"/>
            <a:ext cx="274200" cy="1539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ulti-use layout w/ Dotted Lines 01">
  <p:cSld name="Multi-use layout w/ Dotted Lines 01">
    <p:spTree>
      <p:nvGrpSpPr>
        <p:cNvPr id="1" name="Shape 234"/>
        <p:cNvGrpSpPr/>
        <p:nvPr/>
      </p:nvGrpSpPr>
      <p:grpSpPr>
        <a:xfrm>
          <a:off x="0" y="0"/>
          <a:ext cx="0" cy="0"/>
          <a:chOff x="0" y="0"/>
          <a:chExt cx="0" cy="0"/>
        </a:xfrm>
      </p:grpSpPr>
      <p:grpSp>
        <p:nvGrpSpPr>
          <p:cNvPr id="235" name="Google Shape;235;p27"/>
          <p:cNvGrpSpPr/>
          <p:nvPr/>
        </p:nvGrpSpPr>
        <p:grpSpPr>
          <a:xfrm>
            <a:off x="7" y="7523906"/>
            <a:ext cx="18287993" cy="2743129"/>
            <a:chOff x="-10" y="3735321"/>
            <a:chExt cx="9139427" cy="1408177"/>
          </a:xfrm>
        </p:grpSpPr>
        <p:pic>
          <p:nvPicPr>
            <p:cNvPr id="236" name="Google Shape;236;p27"/>
            <p:cNvPicPr preferRelativeResize="0"/>
            <p:nvPr/>
          </p:nvPicPr>
          <p:blipFill rotWithShape="1">
            <a:blip r:embed="rId2">
              <a:alphaModFix amt="29000"/>
            </a:blip>
            <a:srcRect t="140" b="140"/>
            <a:stretch/>
          </p:blipFill>
          <p:spPr>
            <a:xfrm>
              <a:off x="-10" y="3735321"/>
              <a:ext cx="3044952" cy="1408177"/>
            </a:xfrm>
            <a:prstGeom prst="rect">
              <a:avLst/>
            </a:prstGeom>
            <a:noFill/>
            <a:ln>
              <a:noFill/>
            </a:ln>
          </p:spPr>
        </p:pic>
        <p:pic>
          <p:nvPicPr>
            <p:cNvPr id="237" name="Google Shape;237;p27"/>
            <p:cNvPicPr preferRelativeResize="0"/>
            <p:nvPr/>
          </p:nvPicPr>
          <p:blipFill rotWithShape="1">
            <a:blip r:embed="rId3">
              <a:alphaModFix amt="29000"/>
            </a:blip>
            <a:srcRect t="140" b="140"/>
            <a:stretch/>
          </p:blipFill>
          <p:spPr>
            <a:xfrm>
              <a:off x="3049515" y="3735321"/>
              <a:ext cx="3044952" cy="1408177"/>
            </a:xfrm>
            <a:prstGeom prst="rect">
              <a:avLst/>
            </a:prstGeom>
            <a:noFill/>
            <a:ln>
              <a:noFill/>
            </a:ln>
          </p:spPr>
        </p:pic>
        <p:pic>
          <p:nvPicPr>
            <p:cNvPr id="238" name="Google Shape;238;p27"/>
            <p:cNvPicPr preferRelativeResize="0"/>
            <p:nvPr/>
          </p:nvPicPr>
          <p:blipFill rotWithShape="1">
            <a:blip r:embed="rId4">
              <a:alphaModFix amt="29000"/>
            </a:blip>
            <a:srcRect t="140" b="140"/>
            <a:stretch/>
          </p:blipFill>
          <p:spPr>
            <a:xfrm>
              <a:off x="6094465" y="3735321"/>
              <a:ext cx="3044952" cy="1408177"/>
            </a:xfrm>
            <a:prstGeom prst="rect">
              <a:avLst/>
            </a:prstGeom>
            <a:noFill/>
            <a:ln>
              <a:noFill/>
            </a:ln>
          </p:spPr>
        </p:pic>
      </p:grpSp>
      <p:sp>
        <p:nvSpPr>
          <p:cNvPr id="239" name="Google Shape;239;p27"/>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40" name="Google Shape;240;p27"/>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41" name="Google Shape;241;p27"/>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42" name="Google Shape;242;p27"/>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27"/>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44" name="Google Shape;244;p27"/>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ulti-use layout w/ Dotted Lines 02">
  <p:cSld name="Multi-use layout w/ Dotted Lines 02">
    <p:spTree>
      <p:nvGrpSpPr>
        <p:cNvPr id="1" name="Shape 245"/>
        <p:cNvGrpSpPr/>
        <p:nvPr/>
      </p:nvGrpSpPr>
      <p:grpSpPr>
        <a:xfrm>
          <a:off x="0" y="0"/>
          <a:ext cx="0" cy="0"/>
          <a:chOff x="0" y="0"/>
          <a:chExt cx="0" cy="0"/>
        </a:xfrm>
      </p:grpSpPr>
      <p:grpSp>
        <p:nvGrpSpPr>
          <p:cNvPr id="246" name="Google Shape;246;p28"/>
          <p:cNvGrpSpPr/>
          <p:nvPr/>
        </p:nvGrpSpPr>
        <p:grpSpPr>
          <a:xfrm>
            <a:off x="1" y="8741153"/>
            <a:ext cx="18288002" cy="1545849"/>
            <a:chOff x="0" y="4370576"/>
            <a:chExt cx="9144001" cy="772925"/>
          </a:xfrm>
        </p:grpSpPr>
        <p:pic>
          <p:nvPicPr>
            <p:cNvPr id="247" name="Google Shape;247;p28"/>
            <p:cNvPicPr preferRelativeResize="0"/>
            <p:nvPr/>
          </p:nvPicPr>
          <p:blipFill rotWithShape="1">
            <a:blip r:embed="rId2">
              <a:alphaModFix amt="29000"/>
            </a:blip>
            <a:srcRect t="140" b="43664"/>
            <a:stretch/>
          </p:blipFill>
          <p:spPr>
            <a:xfrm>
              <a:off x="0" y="4370576"/>
              <a:ext cx="3046476" cy="772925"/>
            </a:xfrm>
            <a:prstGeom prst="rect">
              <a:avLst/>
            </a:prstGeom>
            <a:noFill/>
            <a:ln>
              <a:noFill/>
            </a:ln>
          </p:spPr>
        </p:pic>
        <p:pic>
          <p:nvPicPr>
            <p:cNvPr id="248" name="Google Shape;248;p28"/>
            <p:cNvPicPr preferRelativeResize="0"/>
            <p:nvPr/>
          </p:nvPicPr>
          <p:blipFill rotWithShape="1">
            <a:blip r:embed="rId3">
              <a:alphaModFix amt="29000"/>
            </a:blip>
            <a:srcRect t="140" b="43664"/>
            <a:stretch/>
          </p:blipFill>
          <p:spPr>
            <a:xfrm>
              <a:off x="3051050" y="4370576"/>
              <a:ext cx="3046476" cy="772925"/>
            </a:xfrm>
            <a:prstGeom prst="rect">
              <a:avLst/>
            </a:prstGeom>
            <a:noFill/>
            <a:ln>
              <a:noFill/>
            </a:ln>
          </p:spPr>
        </p:pic>
        <p:pic>
          <p:nvPicPr>
            <p:cNvPr id="249" name="Google Shape;249;p28"/>
            <p:cNvPicPr preferRelativeResize="0"/>
            <p:nvPr/>
          </p:nvPicPr>
          <p:blipFill rotWithShape="1">
            <a:blip r:embed="rId4">
              <a:alphaModFix amt="29000"/>
            </a:blip>
            <a:srcRect t="140" b="43664"/>
            <a:stretch/>
          </p:blipFill>
          <p:spPr>
            <a:xfrm>
              <a:off x="6097525" y="4370576"/>
              <a:ext cx="3046476" cy="772925"/>
            </a:xfrm>
            <a:prstGeom prst="rect">
              <a:avLst/>
            </a:prstGeom>
            <a:noFill/>
            <a:ln>
              <a:noFill/>
            </a:ln>
          </p:spPr>
        </p:pic>
      </p:grpSp>
      <p:sp>
        <p:nvSpPr>
          <p:cNvPr id="250" name="Google Shape;250;p28"/>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51" name="Google Shape;251;p28"/>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52" name="Google Shape;252;p28"/>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53" name="Google Shape;253;p28"/>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4" name="Google Shape;254;p28"/>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55" name="Google Shape;255;p28"/>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ulti-use layout w/ Dotted Arrows">
  <p:cSld name="Multi-use layout w/ Dotted Arrows">
    <p:spTree>
      <p:nvGrpSpPr>
        <p:cNvPr id="1" name="Shape 256"/>
        <p:cNvGrpSpPr/>
        <p:nvPr/>
      </p:nvGrpSpPr>
      <p:grpSpPr>
        <a:xfrm>
          <a:off x="0" y="0"/>
          <a:ext cx="0" cy="0"/>
          <a:chOff x="0" y="0"/>
          <a:chExt cx="0" cy="0"/>
        </a:xfrm>
      </p:grpSpPr>
      <p:pic>
        <p:nvPicPr>
          <p:cNvPr id="257" name="Google Shape;257;p29"/>
          <p:cNvPicPr preferRelativeResize="0"/>
          <p:nvPr/>
        </p:nvPicPr>
        <p:blipFill rotWithShape="1">
          <a:blip r:embed="rId2">
            <a:alphaModFix/>
          </a:blip>
          <a:srcRect l="22840"/>
          <a:stretch/>
        </p:blipFill>
        <p:spPr>
          <a:xfrm flipH="1">
            <a:off x="15564750" y="5871351"/>
            <a:ext cx="2736300" cy="3862446"/>
          </a:xfrm>
          <a:prstGeom prst="rect">
            <a:avLst/>
          </a:prstGeom>
          <a:noFill/>
          <a:ln>
            <a:noFill/>
          </a:ln>
        </p:spPr>
      </p:pic>
      <p:sp>
        <p:nvSpPr>
          <p:cNvPr id="258" name="Google Shape;258;p29"/>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59" name="Google Shape;259;p29"/>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60" name="Google Shape;260;p29"/>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61" name="Google Shape;261;p29"/>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9"/>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63" name="Google Shape;263;p29"/>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ark Blue Left Bar">
  <p:cSld name="Dark Blue Left Bar">
    <p:spTree>
      <p:nvGrpSpPr>
        <p:cNvPr id="1" name="Shape 264"/>
        <p:cNvGrpSpPr/>
        <p:nvPr/>
      </p:nvGrpSpPr>
      <p:grpSpPr>
        <a:xfrm>
          <a:off x="0" y="0"/>
          <a:ext cx="0" cy="0"/>
          <a:chOff x="0" y="0"/>
          <a:chExt cx="0" cy="0"/>
        </a:xfrm>
      </p:grpSpPr>
      <p:sp>
        <p:nvSpPr>
          <p:cNvPr id="265" name="Google Shape;265;p30"/>
          <p:cNvSpPr/>
          <p:nvPr/>
        </p:nvSpPr>
        <p:spPr>
          <a:xfrm>
            <a:off x="0" y="0"/>
            <a:ext cx="5463000" cy="10287000"/>
          </a:xfrm>
          <a:prstGeom prst="rect">
            <a:avLst/>
          </a:prstGeom>
          <a:solidFill>
            <a:schemeClr val="dk2"/>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7200"/>
              <a:buFont typeface="Arial"/>
              <a:buNone/>
            </a:pPr>
            <a:endParaRPr sz="7200">
              <a:solidFill>
                <a:schemeClr val="dk1"/>
              </a:solidFill>
              <a:latin typeface="Arial"/>
              <a:ea typeface="Arial"/>
              <a:cs typeface="Arial"/>
              <a:sym typeface="Arial"/>
            </a:endParaRPr>
          </a:p>
        </p:txBody>
      </p:sp>
      <p:sp>
        <p:nvSpPr>
          <p:cNvPr id="266" name="Google Shape;266;p30"/>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chemeClr val="lt1"/>
                </a:solidFill>
                <a:latin typeface="Arial"/>
                <a:ea typeface="Arial"/>
                <a:cs typeface="Arial"/>
                <a:sym typeface="Arial"/>
              </a:rPr>
              <a:t>‹#›</a:t>
            </a:fld>
            <a:endParaRPr sz="1200" i="0">
              <a:solidFill>
                <a:schemeClr val="lt1"/>
              </a:solidFill>
              <a:latin typeface="Arial"/>
              <a:ea typeface="Arial"/>
              <a:cs typeface="Arial"/>
              <a:sym typeface="Arial"/>
            </a:endParaRPr>
          </a:p>
        </p:txBody>
      </p:sp>
      <p:sp>
        <p:nvSpPr>
          <p:cNvPr id="267" name="Google Shape;267;p30"/>
          <p:cNvSpPr txBox="1"/>
          <p:nvPr/>
        </p:nvSpPr>
        <p:spPr>
          <a:xfrm>
            <a:off x="16668499"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68" name="Google Shape;268;p30"/>
          <p:cNvSpPr txBox="1">
            <a:spLocks noGrp="1"/>
          </p:cNvSpPr>
          <p:nvPr>
            <p:ph type="body" idx="1"/>
          </p:nvPr>
        </p:nvSpPr>
        <p:spPr>
          <a:xfrm>
            <a:off x="914391" y="3054656"/>
            <a:ext cx="42672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chemeClr val="lt1"/>
              </a:buClr>
              <a:buSzPts val="3600"/>
              <a:buNone/>
              <a:defRPr>
                <a:solidFill>
                  <a:schemeClr val="lt1"/>
                </a:solidFill>
              </a:defRPr>
            </a:lvl1pPr>
            <a:lvl2pPr marL="914400" lvl="1" indent="-457200" algn="l">
              <a:lnSpc>
                <a:spcPct val="114000"/>
              </a:lnSpc>
              <a:spcBef>
                <a:spcPts val="2000"/>
              </a:spcBef>
              <a:spcAft>
                <a:spcPts val="0"/>
              </a:spcAft>
              <a:buSzPts val="3600"/>
              <a:buChar char="•"/>
              <a:defRPr>
                <a:solidFill>
                  <a:schemeClr val="lt1"/>
                </a:solidFill>
              </a:defRPr>
            </a:lvl2pPr>
            <a:lvl3pPr marL="1371600" lvl="2" indent="-419100" algn="l">
              <a:lnSpc>
                <a:spcPct val="114000"/>
              </a:lnSpc>
              <a:spcBef>
                <a:spcPts val="1200"/>
              </a:spcBef>
              <a:spcAft>
                <a:spcPts val="0"/>
              </a:spcAft>
              <a:buSzPts val="3000"/>
              <a:buChar char="•"/>
              <a:defRPr>
                <a:solidFill>
                  <a:schemeClr val="lt1"/>
                </a:solidFill>
              </a:defRPr>
            </a:lvl3pPr>
            <a:lvl4pPr marL="1828800" lvl="3" indent="-406400" algn="l">
              <a:lnSpc>
                <a:spcPct val="114000"/>
              </a:lnSpc>
              <a:spcBef>
                <a:spcPts val="1200"/>
              </a:spcBef>
              <a:spcAft>
                <a:spcPts val="0"/>
              </a:spcAft>
              <a:buSzPts val="2800"/>
              <a:buChar char="•"/>
              <a:defRPr>
                <a:solidFill>
                  <a:schemeClr val="lt1"/>
                </a:solidFill>
              </a:defRPr>
            </a:lvl4pPr>
            <a:lvl5pPr marL="2286000" lvl="4" indent="-406400" algn="l">
              <a:lnSpc>
                <a:spcPct val="114000"/>
              </a:lnSpc>
              <a:spcBef>
                <a:spcPts val="1200"/>
              </a:spcBef>
              <a:spcAft>
                <a:spcPts val="0"/>
              </a:spcAft>
              <a:buSzPts val="2800"/>
              <a:buChar char="•"/>
              <a:defRPr>
                <a:solidFill>
                  <a:schemeClr val="lt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69" name="Google Shape;269;p30"/>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70" name="Google Shape;270;p30"/>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a:solidFill>
                  <a:schemeClr val="lt1"/>
                </a:solidFill>
                <a:latin typeface="Arial"/>
                <a:ea typeface="Arial"/>
                <a:cs typeface="Arial"/>
                <a:sym typeface="Arial"/>
              </a:rPr>
              <a:t>© 202</a:t>
            </a:r>
            <a:r>
              <a:rPr lang="en-US" sz="1200">
                <a:solidFill>
                  <a:schemeClr val="lt1"/>
                </a:solidFill>
              </a:rPr>
              <a:t>6</a:t>
            </a:r>
            <a:r>
              <a:rPr lang="en-US" sz="1200" b="0" i="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71" name="Google Shape;271;p30"/>
          <p:cNvSpPr txBox="1">
            <a:spLocks noGrp="1"/>
          </p:cNvSpPr>
          <p:nvPr>
            <p:ph type="title"/>
          </p:nvPr>
        </p:nvSpPr>
        <p:spPr>
          <a:xfrm>
            <a:off x="709117" y="727121"/>
            <a:ext cx="4753800" cy="731400"/>
          </a:xfrm>
          <a:prstGeom prst="rect">
            <a:avLst/>
          </a:prstGeom>
          <a:noFill/>
          <a:ln>
            <a:noFill/>
          </a:ln>
        </p:spPr>
        <p:txBody>
          <a:bodyPr spcFirstLastPara="1" wrap="square" lIns="182900" tIns="182900" rIns="182900" bIns="0" anchor="t" anchorCtr="0">
            <a:noAutofit/>
          </a:bodyPr>
          <a:lstStyle>
            <a:lvl1pPr lvl="0" algn="l">
              <a:lnSpc>
                <a:spcPct val="85000"/>
              </a:lnSpc>
              <a:spcBef>
                <a:spcPts val="0"/>
              </a:spcBef>
              <a:spcAft>
                <a:spcPts val="0"/>
              </a:spcAft>
              <a:buClr>
                <a:schemeClr val="lt1"/>
              </a:buClr>
              <a:buSzPts val="5200"/>
              <a:buFont typeface="Arial"/>
              <a:buNone/>
              <a:defRPr sz="5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2" name="Google Shape;272;p30"/>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footer only)">
  <p:cSld name="Blank (footer only)">
    <p:spTree>
      <p:nvGrpSpPr>
        <p:cNvPr id="1" name="Shape 273"/>
        <p:cNvGrpSpPr/>
        <p:nvPr/>
      </p:nvGrpSpPr>
      <p:grpSpPr>
        <a:xfrm>
          <a:off x="0" y="0"/>
          <a:ext cx="0" cy="0"/>
          <a:chOff x="0" y="0"/>
          <a:chExt cx="0" cy="0"/>
        </a:xfrm>
      </p:grpSpPr>
      <p:sp>
        <p:nvSpPr>
          <p:cNvPr id="274" name="Google Shape;274;p31"/>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75" name="Google Shape;275;p31"/>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276" name="Google Shape;276;p31"/>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 Dk Blue">
  <p:cSld name="Quote - Dk Blue">
    <p:bg>
      <p:bgPr>
        <a:solidFill>
          <a:schemeClr val="dk2"/>
        </a:solidFill>
        <a:effectLst/>
      </p:bgPr>
    </p:bg>
    <p:spTree>
      <p:nvGrpSpPr>
        <p:cNvPr id="1" name="Shape 277"/>
        <p:cNvGrpSpPr/>
        <p:nvPr/>
      </p:nvGrpSpPr>
      <p:grpSpPr>
        <a:xfrm>
          <a:off x="0" y="0"/>
          <a:ext cx="0" cy="0"/>
          <a:chOff x="0" y="0"/>
          <a:chExt cx="0" cy="0"/>
        </a:xfrm>
      </p:grpSpPr>
      <p:sp>
        <p:nvSpPr>
          <p:cNvPr id="278" name="Google Shape;278;p32"/>
          <p:cNvSpPr txBox="1">
            <a:spLocks noGrp="1"/>
          </p:cNvSpPr>
          <p:nvPr>
            <p:ph type="ctrTitle"/>
          </p:nvPr>
        </p:nvSpPr>
        <p:spPr>
          <a:xfrm>
            <a:off x="705205" y="4275880"/>
            <a:ext cx="16019400" cy="1600200"/>
          </a:xfrm>
          <a:prstGeom prst="rect">
            <a:avLst/>
          </a:prstGeom>
          <a:noFill/>
          <a:ln>
            <a:noFill/>
          </a:ln>
        </p:spPr>
        <p:txBody>
          <a:bodyPr spcFirstLastPara="1" wrap="square" lIns="182900" tIns="182900" rIns="182900" bIns="182900" anchor="ctr" anchorCtr="0">
            <a:spAutoFit/>
          </a:bodyPr>
          <a:lstStyle>
            <a:lvl1pPr lvl="0" algn="l">
              <a:lnSpc>
                <a:spcPct val="100000"/>
              </a:lnSpc>
              <a:spcBef>
                <a:spcPts val="0"/>
              </a:spcBef>
              <a:spcAft>
                <a:spcPts val="0"/>
              </a:spcAft>
              <a:buClr>
                <a:schemeClr val="lt1"/>
              </a:buClr>
              <a:buSzPts val="8000"/>
              <a:buFont typeface="Arial"/>
              <a:buNone/>
              <a:defRPr sz="8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32"/>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80" name="Google Shape;280;p32"/>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a:solidFill>
                  <a:schemeClr val="lt1"/>
                </a:solidFill>
                <a:latin typeface="Arial"/>
                <a:ea typeface="Arial"/>
                <a:cs typeface="Arial"/>
                <a:sym typeface="Arial"/>
              </a:rPr>
              <a:t>© 202</a:t>
            </a:r>
            <a:r>
              <a:rPr lang="en-US" sz="1200">
                <a:solidFill>
                  <a:schemeClr val="lt1"/>
                </a:solidFill>
              </a:rPr>
              <a:t>6</a:t>
            </a:r>
            <a:r>
              <a:rPr lang="en-US" sz="1200" b="0" i="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grpSp>
        <p:nvGrpSpPr>
          <p:cNvPr id="281" name="Google Shape;281;p32"/>
          <p:cNvGrpSpPr/>
          <p:nvPr/>
        </p:nvGrpSpPr>
        <p:grpSpPr>
          <a:xfrm>
            <a:off x="914418" y="948259"/>
            <a:ext cx="2355572" cy="1715698"/>
            <a:chOff x="865451" y="2114550"/>
            <a:chExt cx="3399093" cy="2475755"/>
          </a:xfrm>
        </p:grpSpPr>
        <p:sp>
          <p:nvSpPr>
            <p:cNvPr id="282" name="Google Shape;282;p32"/>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600" tIns="34300" rIns="68600" bIns="343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sp>
          <p:nvSpPr>
            <p:cNvPr id="283" name="Google Shape;283;p32"/>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600" tIns="34300" rIns="68600" bIns="343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grpSp>
      <p:sp>
        <p:nvSpPr>
          <p:cNvPr id="284" name="Google Shape;284;p32"/>
          <p:cNvSpPr txBox="1">
            <a:spLocks noGrp="1"/>
          </p:cNvSpPr>
          <p:nvPr>
            <p:ph type="subTitle" idx="1"/>
          </p:nvPr>
        </p:nvSpPr>
        <p:spPr>
          <a:xfrm>
            <a:off x="729754" y="8082420"/>
            <a:ext cx="11465400" cy="818400"/>
          </a:xfrm>
          <a:prstGeom prst="rect">
            <a:avLst/>
          </a:prstGeom>
          <a:noFill/>
          <a:ln>
            <a:noFill/>
          </a:ln>
        </p:spPr>
        <p:txBody>
          <a:bodyPr spcFirstLastPara="1" wrap="square" lIns="182900" tIns="45700" rIns="91450" bIns="45700" anchor="t" anchorCtr="0">
            <a:noAutofit/>
          </a:bodyPr>
          <a:lstStyle>
            <a:lvl1pPr lvl="0" algn="l">
              <a:lnSpc>
                <a:spcPct val="114000"/>
              </a:lnSpc>
              <a:spcBef>
                <a:spcPts val="0"/>
              </a:spcBef>
              <a:spcAft>
                <a:spcPts val="0"/>
              </a:spcAft>
              <a:buClr>
                <a:schemeClr val="lt1"/>
              </a:buClr>
              <a:buSzPts val="3600"/>
              <a:buNone/>
              <a:defRPr sz="3600" b="1">
                <a:solidFill>
                  <a:schemeClr val="lt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endParaRPr/>
          </a:p>
        </p:txBody>
      </p:sp>
      <p:sp>
        <p:nvSpPr>
          <p:cNvPr id="285" name="Google Shape;285;p32"/>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chemeClr val="lt1"/>
                </a:solidFill>
                <a:latin typeface="Arial"/>
                <a:ea typeface="Arial"/>
                <a:cs typeface="Arial"/>
                <a:sym typeface="Arial"/>
              </a:rPr>
              <a:t>‹#›</a:t>
            </a:fld>
            <a:endParaRPr sz="1200" i="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zz_LAST LAYOUT">
  <p:cSld name="LAST LAYOUT">
    <p:bg>
      <p:bgPr>
        <a:solidFill>
          <a:schemeClr val="dk1"/>
        </a:solidFill>
        <a:effectLst/>
      </p:bgPr>
    </p:bg>
    <p:spTree>
      <p:nvGrpSpPr>
        <p:cNvPr id="1" name="Shape 286"/>
        <p:cNvGrpSpPr/>
        <p:nvPr/>
      </p:nvGrpSpPr>
      <p:grpSpPr>
        <a:xfrm>
          <a:off x="0" y="0"/>
          <a:ext cx="0" cy="0"/>
          <a:chOff x="0" y="0"/>
          <a:chExt cx="0" cy="0"/>
        </a:xfrm>
      </p:grpSpPr>
      <p:sp>
        <p:nvSpPr>
          <p:cNvPr id="287" name="Google Shape;287;p33"/>
          <p:cNvSpPr/>
          <p:nvPr/>
        </p:nvSpPr>
        <p:spPr>
          <a:xfrm>
            <a:off x="1586977" y="1279115"/>
            <a:ext cx="15114000" cy="7728600"/>
          </a:xfrm>
          <a:prstGeom prst="rect">
            <a:avLst/>
          </a:prstGeom>
          <a:noFill/>
          <a:ln w="304800" cap="flat" cmpd="sng">
            <a:solidFill>
              <a:srgbClr val="A20000"/>
            </a:solidFill>
            <a:prstDash val="solid"/>
            <a:miter lim="800000"/>
            <a:headEnd type="none" w="sm" len="sm"/>
            <a:tailEnd type="none" w="sm" len="sm"/>
          </a:ln>
        </p:spPr>
        <p:txBody>
          <a:bodyPr spcFirstLastPara="1" wrap="square" lIns="1463050" tIns="45700" rIns="1463050" bIns="45700" anchor="ctr" anchorCtr="0">
            <a:noAutofit/>
          </a:bodyPr>
          <a:lstStyle/>
          <a:p>
            <a:pPr marL="0" marR="0" lvl="0" indent="0" algn="ctr" rtl="0">
              <a:spcBef>
                <a:spcPts val="0"/>
              </a:spcBef>
              <a:spcAft>
                <a:spcPts val="0"/>
              </a:spcAft>
              <a:buNone/>
            </a:pPr>
            <a:r>
              <a:rPr lang="en-US" sz="3600" b="1" i="0">
                <a:solidFill>
                  <a:schemeClr val="lt1"/>
                </a:solidFill>
                <a:latin typeface="Arial Black"/>
                <a:ea typeface="Arial Black"/>
                <a:cs typeface="Arial Black"/>
                <a:sym typeface="Arial Black"/>
              </a:rPr>
              <a:t>LAST LAYOUT</a:t>
            </a:r>
            <a:endParaRPr sz="1400"/>
          </a:p>
          <a:p>
            <a:pPr marL="0" marR="0" lvl="0" indent="0" algn="ctr" rtl="0">
              <a:spcBef>
                <a:spcPts val="0"/>
              </a:spcBef>
              <a:spcAft>
                <a:spcPts val="0"/>
              </a:spcAft>
              <a:buNone/>
            </a:pPr>
            <a:endParaRPr sz="1000">
              <a:solidFill>
                <a:schemeClr val="lt1"/>
              </a:solidFill>
              <a:latin typeface="Arial"/>
              <a:ea typeface="Arial"/>
              <a:cs typeface="Arial"/>
              <a:sym typeface="Arial"/>
            </a:endParaRPr>
          </a:p>
          <a:p>
            <a:pPr marL="0" marR="0" lvl="0" indent="0" algn="ctr" rtl="0">
              <a:spcBef>
                <a:spcPts val="0"/>
              </a:spcBef>
              <a:spcAft>
                <a:spcPts val="0"/>
              </a:spcAft>
              <a:buNone/>
            </a:pPr>
            <a:r>
              <a:rPr lang="en-US" sz="3600">
                <a:solidFill>
                  <a:schemeClr val="lt1"/>
                </a:solidFill>
                <a:latin typeface="Arial"/>
                <a:ea typeface="Arial"/>
                <a:cs typeface="Arial"/>
                <a:sym typeface="Arial"/>
              </a:rPr>
              <a:t>In order for your template to work properly, layouts appearing after this one should be deleted. Make sure your deck is using the Snowflake </a:t>
            </a:r>
            <a:r>
              <a:rPr lang="en-US" sz="3600">
                <a:solidFill>
                  <a:schemeClr val="lt1"/>
                </a:solidFill>
              </a:rPr>
              <a:t>World Tour 2025</a:t>
            </a:r>
            <a:r>
              <a:rPr lang="en-US" sz="3600">
                <a:solidFill>
                  <a:schemeClr val="lt1"/>
                </a:solidFill>
                <a:latin typeface="Arial"/>
                <a:ea typeface="Arial"/>
                <a:cs typeface="Arial"/>
                <a:sym typeface="Arial"/>
              </a:rPr>
              <a:t> template by applying any of the above layouts to your slides, then </a:t>
            </a:r>
            <a:r>
              <a:rPr lang="en-US" sz="3600" b="1">
                <a:solidFill>
                  <a:srgbClr val="C00000"/>
                </a:solidFill>
                <a:latin typeface="Arial"/>
                <a:ea typeface="Arial"/>
                <a:cs typeface="Arial"/>
                <a:sym typeface="Arial"/>
              </a:rPr>
              <a:t>delete any rogue layouts </a:t>
            </a:r>
            <a:r>
              <a:rPr lang="en-US" sz="3600">
                <a:solidFill>
                  <a:schemeClr val="lt1"/>
                </a:solidFill>
                <a:latin typeface="Arial"/>
                <a:ea typeface="Arial"/>
                <a:cs typeface="Arial"/>
                <a:sym typeface="Arial"/>
              </a:rPr>
              <a:t>that appear below. </a:t>
            </a:r>
            <a:endParaRPr sz="1400"/>
          </a:p>
          <a:p>
            <a:pPr marL="0" marR="0" lvl="0" indent="0" algn="ctr" rtl="0">
              <a:spcBef>
                <a:spcPts val="0"/>
              </a:spcBef>
              <a:spcAft>
                <a:spcPts val="0"/>
              </a:spcAft>
              <a:buNone/>
            </a:pPr>
            <a:endParaRPr sz="3600">
              <a:solidFill>
                <a:schemeClr val="lt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 You 1">
  <p:cSld name="Thank You 01_2">
    <p:bg>
      <p:bgPr>
        <a:solidFill>
          <a:schemeClr val="accent1"/>
        </a:solidFill>
        <a:effectLst/>
      </p:bgPr>
    </p:bg>
    <p:spTree>
      <p:nvGrpSpPr>
        <p:cNvPr id="1" name="Shape 288"/>
        <p:cNvGrpSpPr/>
        <p:nvPr/>
      </p:nvGrpSpPr>
      <p:grpSpPr>
        <a:xfrm>
          <a:off x="0" y="0"/>
          <a:ext cx="0" cy="0"/>
          <a:chOff x="0" y="0"/>
          <a:chExt cx="0" cy="0"/>
        </a:xfrm>
      </p:grpSpPr>
      <p:sp>
        <p:nvSpPr>
          <p:cNvPr id="289" name="Google Shape;289;p34"/>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700"/>
              <a:buFont typeface="Arial"/>
              <a:buNone/>
            </a:pPr>
            <a:endParaRPr sz="2700">
              <a:solidFill>
                <a:schemeClr val="dk1"/>
              </a:solidFill>
              <a:latin typeface="Arial"/>
              <a:ea typeface="Arial"/>
              <a:cs typeface="Arial"/>
              <a:sym typeface="Arial"/>
            </a:endParaRPr>
          </a:p>
        </p:txBody>
      </p:sp>
      <p:sp>
        <p:nvSpPr>
          <p:cNvPr id="290" name="Google Shape;290;p34"/>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a:solidFill>
                  <a:schemeClr val="lt1"/>
                </a:solidFill>
                <a:latin typeface="Arial"/>
                <a:ea typeface="Arial"/>
                <a:cs typeface="Arial"/>
                <a:sym typeface="Arial"/>
              </a:rPr>
              <a:t>© 202</a:t>
            </a:r>
            <a:r>
              <a:rPr lang="en-US" sz="1200">
                <a:solidFill>
                  <a:schemeClr val="lt1"/>
                </a:solidFill>
              </a:rPr>
              <a:t>6</a:t>
            </a:r>
            <a:r>
              <a:rPr lang="en-US" sz="1200" b="0" i="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91" name="Google Shape;291;p34"/>
          <p:cNvSpPr txBox="1">
            <a:spLocks noGrp="1"/>
          </p:cNvSpPr>
          <p:nvPr>
            <p:ph type="title"/>
          </p:nvPr>
        </p:nvSpPr>
        <p:spPr>
          <a:xfrm>
            <a:off x="729750" y="1328425"/>
            <a:ext cx="13417800" cy="4655100"/>
          </a:xfrm>
          <a:prstGeom prst="rect">
            <a:avLst/>
          </a:prstGeom>
          <a:noFill/>
          <a:ln>
            <a:noFill/>
          </a:ln>
        </p:spPr>
        <p:txBody>
          <a:bodyPr spcFirstLastPara="1" wrap="square" lIns="91425" tIns="91425" rIns="91425" bIns="91425" anchor="b" anchorCtr="0">
            <a:noAutofit/>
          </a:bodyPr>
          <a:lstStyle>
            <a:lvl1pPr marL="0" marR="0" lvl="0" indent="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sz="8800" b="0">
                <a:solidFill>
                  <a:schemeClr val="lt1"/>
                </a:solidFill>
                <a:latin typeface="Arial Black"/>
                <a:ea typeface="Arial Black"/>
                <a:cs typeface="Arial Black"/>
                <a:sym typeface="Arial Black"/>
              </a:defRPr>
            </a:lvl9pPr>
          </a:lstStyle>
          <a:p>
            <a:endParaRPr/>
          </a:p>
        </p:txBody>
      </p:sp>
      <p:sp>
        <p:nvSpPr>
          <p:cNvPr id="292" name="Google Shape;292;p34"/>
          <p:cNvSpPr/>
          <p:nvPr/>
        </p:nvSpPr>
        <p:spPr>
          <a:xfrm rot="2700000">
            <a:off x="14001203" y="7437176"/>
            <a:ext cx="505299" cy="505299"/>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93" name="Google Shape;293;p34"/>
          <p:cNvGrpSpPr/>
          <p:nvPr/>
        </p:nvGrpSpPr>
        <p:grpSpPr>
          <a:xfrm>
            <a:off x="14726705" y="497445"/>
            <a:ext cx="3069293" cy="584633"/>
            <a:chOff x="4714874" y="4067495"/>
            <a:chExt cx="8797056" cy="1675647"/>
          </a:xfrm>
        </p:grpSpPr>
        <p:sp>
          <p:nvSpPr>
            <p:cNvPr id="294" name="Google Shape;294;p34"/>
            <p:cNvSpPr/>
            <p:nvPr/>
          </p:nvSpPr>
          <p:spPr>
            <a:xfrm>
              <a:off x="4714874" y="4067495"/>
              <a:ext cx="1652517" cy="1607906"/>
            </a:xfrm>
            <a:custGeom>
              <a:avLst/>
              <a:gdLst/>
              <a:ahLst/>
              <a:cxnLst/>
              <a:rect l="l" t="t" r="r" b="b"/>
              <a:pathLst>
                <a:path w="1101678" h="1071937" extrusionOk="0">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spcFirstLastPara="1" wrap="square" lIns="47825" tIns="23900" rIns="47825" bIns="23900" anchor="t" anchorCtr="0">
              <a:noAutofit/>
            </a:bodyPr>
            <a:lstStyle/>
            <a:p>
              <a:pPr marL="0" marR="0" lvl="0" indent="0" algn="l" rtl="0">
                <a:spcBef>
                  <a:spcPts val="0"/>
                </a:spcBef>
                <a:spcAft>
                  <a:spcPts val="0"/>
                </a:spcAft>
                <a:buNone/>
              </a:pPr>
              <a:endParaRPr sz="942">
                <a:solidFill>
                  <a:srgbClr val="252525"/>
                </a:solidFill>
                <a:latin typeface="Arial"/>
                <a:ea typeface="Arial"/>
                <a:cs typeface="Arial"/>
                <a:sym typeface="Arial"/>
              </a:endParaRPr>
            </a:p>
          </p:txBody>
        </p:sp>
        <p:sp>
          <p:nvSpPr>
            <p:cNvPr id="295" name="Google Shape;295;p34"/>
            <p:cNvSpPr/>
            <p:nvPr/>
          </p:nvSpPr>
          <p:spPr>
            <a:xfrm>
              <a:off x="6865060" y="4094534"/>
              <a:ext cx="6227805" cy="723565"/>
            </a:xfrm>
            <a:custGeom>
              <a:avLst/>
              <a:gdLst/>
              <a:ahLst/>
              <a:cxnLst/>
              <a:rect l="l" t="t" r="r" b="b"/>
              <a:pathLst>
                <a:path w="4151870" h="482377" extrusionOk="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spcFirstLastPara="1" wrap="square" lIns="47825" tIns="23900" rIns="47825" bIns="23900" anchor="t" anchorCtr="0">
              <a:noAutofit/>
            </a:bodyPr>
            <a:lstStyle/>
            <a:p>
              <a:pPr marL="0" marR="0" lvl="0" indent="0" algn="l" rtl="0">
                <a:spcBef>
                  <a:spcPts val="0"/>
                </a:spcBef>
                <a:spcAft>
                  <a:spcPts val="0"/>
                </a:spcAft>
                <a:buNone/>
              </a:pPr>
              <a:endParaRPr sz="942">
                <a:solidFill>
                  <a:srgbClr val="252525"/>
                </a:solidFill>
                <a:latin typeface="Arial"/>
                <a:ea typeface="Arial"/>
                <a:cs typeface="Arial"/>
                <a:sym typeface="Arial"/>
              </a:endParaRPr>
            </a:p>
          </p:txBody>
        </p:sp>
        <p:sp>
          <p:nvSpPr>
            <p:cNvPr id="296" name="Google Shape;296;p34"/>
            <p:cNvSpPr/>
            <p:nvPr/>
          </p:nvSpPr>
          <p:spPr>
            <a:xfrm>
              <a:off x="6848871" y="5019579"/>
              <a:ext cx="6663058" cy="723563"/>
            </a:xfrm>
            <a:custGeom>
              <a:avLst/>
              <a:gdLst/>
              <a:ahLst/>
              <a:cxnLst/>
              <a:rect l="l" t="t" r="r" b="b"/>
              <a:pathLst>
                <a:path w="4442039" h="482375" extrusionOk="0">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rgbClr val="000000"/>
            </a:solidFill>
            <a:ln>
              <a:noFill/>
            </a:ln>
          </p:spPr>
          <p:txBody>
            <a:bodyPr spcFirstLastPara="1" wrap="square" lIns="47825" tIns="23900" rIns="47825" bIns="23900" anchor="t" anchorCtr="0">
              <a:noAutofit/>
            </a:bodyPr>
            <a:lstStyle/>
            <a:p>
              <a:pPr marL="0" marR="0" lvl="0" indent="0" algn="l" rtl="0">
                <a:spcBef>
                  <a:spcPts val="0"/>
                </a:spcBef>
                <a:spcAft>
                  <a:spcPts val="0"/>
                </a:spcAft>
                <a:buNone/>
              </a:pPr>
              <a:endParaRPr sz="942">
                <a:solidFill>
                  <a:srgbClr val="252525"/>
                </a:solidFill>
                <a:latin typeface="Arial"/>
                <a:ea typeface="Arial"/>
                <a:cs typeface="Arial"/>
                <a:sym typeface="Arial"/>
              </a:endParaRPr>
            </a:p>
          </p:txBody>
        </p:sp>
      </p:grpSp>
      <p:pic>
        <p:nvPicPr>
          <p:cNvPr id="297" name="Google Shape;297;p34" title="summit-lock-ups 1.png"/>
          <p:cNvPicPr preferRelativeResize="0"/>
          <p:nvPr/>
        </p:nvPicPr>
        <p:blipFill>
          <a:blip r:embed="rId2">
            <a:alphaModFix/>
          </a:blip>
          <a:stretch>
            <a:fillRect/>
          </a:stretch>
        </p:blipFill>
        <p:spPr>
          <a:xfrm>
            <a:off x="2347823" y="1328425"/>
            <a:ext cx="15940178" cy="89585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31520" y="548640"/>
            <a:ext cx="16642200" cy="1049400"/>
          </a:xfrm>
          <a:prstGeom prst="rect">
            <a:avLst/>
          </a:prstGeom>
          <a:noFill/>
          <a:ln>
            <a:noFill/>
          </a:ln>
        </p:spPr>
        <p:txBody>
          <a:bodyPr spcFirstLastPara="1" wrap="square" lIns="182900" tIns="182900" rIns="182900" bIns="182900" anchor="t" anchorCtr="0">
            <a:spAutoFit/>
          </a:bodyPr>
          <a:lstStyle>
            <a:lvl1pPr marR="0" lvl="0" algn="l">
              <a:lnSpc>
                <a:spcPct val="85000"/>
              </a:lnSpc>
              <a:spcBef>
                <a:spcPts val="0"/>
              </a:spcBef>
              <a:spcAft>
                <a:spcPts val="0"/>
              </a:spcAft>
              <a:buClr>
                <a:schemeClr val="dk1"/>
              </a:buClr>
              <a:buSzPts val="5200"/>
              <a:buFont typeface="Arial"/>
              <a:buNone/>
              <a:defRPr sz="5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257300" y="2740026"/>
            <a:ext cx="15773400" cy="6524400"/>
          </a:xfrm>
          <a:prstGeom prst="rect">
            <a:avLst/>
          </a:prstGeom>
          <a:noFill/>
          <a:ln>
            <a:noFill/>
          </a:ln>
        </p:spPr>
        <p:txBody>
          <a:bodyPr spcFirstLastPara="1" wrap="square" lIns="91450" tIns="45700" rIns="91450" bIns="45700" anchor="t" anchorCtr="0">
            <a:noAutofit/>
          </a:bodyPr>
          <a:lstStyle>
            <a:lvl1pPr marL="457200" marR="0" lvl="0" indent="-228600" algn="l">
              <a:lnSpc>
                <a:spcPct val="114000"/>
              </a:lnSpc>
              <a:spcBef>
                <a:spcPts val="0"/>
              </a:spcBef>
              <a:spcAft>
                <a:spcPts val="0"/>
              </a:spcAft>
              <a:buClr>
                <a:srgbClr val="5B5B5B"/>
              </a:buClr>
              <a:buSzPts val="3600"/>
              <a:buFont typeface="Arial"/>
              <a:buNone/>
              <a:defRPr sz="3600" b="0" i="0" u="none" strike="noStrike" cap="none">
                <a:solidFill>
                  <a:srgbClr val="5B5B5B"/>
                </a:solidFill>
                <a:latin typeface="Arial"/>
                <a:ea typeface="Arial"/>
                <a:cs typeface="Arial"/>
                <a:sym typeface="Arial"/>
              </a:defRPr>
            </a:lvl1pPr>
            <a:lvl2pPr marL="914400" marR="0" lvl="1" indent="-457200" algn="l">
              <a:lnSpc>
                <a:spcPct val="114000"/>
              </a:lnSpc>
              <a:spcBef>
                <a:spcPts val="2000"/>
              </a:spcBef>
              <a:spcAft>
                <a:spcPts val="0"/>
              </a:spcAft>
              <a:buClr>
                <a:schemeClr val="accent1"/>
              </a:buClr>
              <a:buSzPts val="3600"/>
              <a:buFont typeface="Arial"/>
              <a:buChar char="•"/>
              <a:defRPr sz="3600" b="0" i="0" u="none" strike="noStrike" cap="none">
                <a:solidFill>
                  <a:srgbClr val="5B5B5B"/>
                </a:solidFill>
                <a:latin typeface="Arial"/>
                <a:ea typeface="Arial"/>
                <a:cs typeface="Arial"/>
                <a:sym typeface="Arial"/>
              </a:defRPr>
            </a:lvl2pPr>
            <a:lvl3pPr marL="1371600" marR="0" lvl="2" indent="-419100" algn="l">
              <a:lnSpc>
                <a:spcPct val="114000"/>
              </a:lnSpc>
              <a:spcBef>
                <a:spcPts val="1200"/>
              </a:spcBef>
              <a:spcAft>
                <a:spcPts val="0"/>
              </a:spcAft>
              <a:buClr>
                <a:schemeClr val="accent1"/>
              </a:buClr>
              <a:buSzPts val="3000"/>
              <a:buFont typeface="Arial"/>
              <a:buChar char="•"/>
              <a:defRPr sz="3000" b="0" i="0" u="none" strike="noStrike" cap="none">
                <a:solidFill>
                  <a:srgbClr val="5B5B5B"/>
                </a:solidFill>
                <a:latin typeface="Arial"/>
                <a:ea typeface="Arial"/>
                <a:cs typeface="Arial"/>
                <a:sym typeface="Arial"/>
              </a:defRPr>
            </a:lvl3pPr>
            <a:lvl4pPr marL="1828800" marR="0" lvl="3" indent="-406400" algn="l">
              <a:lnSpc>
                <a:spcPct val="114000"/>
              </a:lnSpc>
              <a:spcBef>
                <a:spcPts val="1200"/>
              </a:spcBef>
              <a:spcAft>
                <a:spcPts val="0"/>
              </a:spcAft>
              <a:buClr>
                <a:schemeClr val="accent1"/>
              </a:buClr>
              <a:buSzPts val="2800"/>
              <a:buFont typeface="Arial"/>
              <a:buChar char="•"/>
              <a:defRPr sz="2800" b="0" i="0" u="none" strike="noStrike" cap="none">
                <a:solidFill>
                  <a:srgbClr val="5B5B5B"/>
                </a:solidFill>
                <a:latin typeface="Arial"/>
                <a:ea typeface="Arial"/>
                <a:cs typeface="Arial"/>
                <a:sym typeface="Arial"/>
              </a:defRPr>
            </a:lvl4pPr>
            <a:lvl5pPr marL="2286000" marR="0" lvl="4" indent="-406400" algn="l">
              <a:lnSpc>
                <a:spcPct val="114000"/>
              </a:lnSpc>
              <a:spcBef>
                <a:spcPts val="1200"/>
              </a:spcBef>
              <a:spcAft>
                <a:spcPts val="0"/>
              </a:spcAft>
              <a:buClr>
                <a:schemeClr val="accent1"/>
              </a:buClr>
              <a:buSzPts val="2800"/>
              <a:buFont typeface="Arial"/>
              <a:buChar char="•"/>
              <a:defRPr sz="2800" b="0" i="0" u="none" strike="noStrike" cap="none">
                <a:solidFill>
                  <a:srgbClr val="5B5B5B"/>
                </a:solidFill>
                <a:latin typeface="Arial"/>
                <a:ea typeface="Arial"/>
                <a:cs typeface="Arial"/>
                <a:sym typeface="Arial"/>
              </a:defRPr>
            </a:lvl5pPr>
            <a:lvl6pPr marL="2743200" marR="0" lvl="5" indent="-406400" algn="l">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a:lnSpc>
                <a:spcPct val="90000"/>
              </a:lnSpc>
              <a:spcBef>
                <a:spcPts val="8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a:lnSpc>
                <a:spcPct val="90000"/>
              </a:lnSpc>
              <a:spcBef>
                <a:spcPts val="8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a:lnSpc>
                <a:spcPct val="90000"/>
              </a:lnSpc>
              <a:spcBef>
                <a:spcPts val="8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2" name="Google Shape;12;p1"/>
          <p:cNvSpPr txBox="1"/>
          <p:nvPr/>
        </p:nvSpPr>
        <p:spPr>
          <a:xfrm>
            <a:off x="7772400" y="-2319867"/>
            <a:ext cx="10515600" cy="6465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r>
              <a:rPr lang="en-US" sz="1800" b="0" i="0" u="none" strike="noStrike" cap="none">
                <a:solidFill>
                  <a:srgbClr val="C8C8C8"/>
                </a:solidFill>
                <a:latin typeface="Arial"/>
                <a:ea typeface="Arial"/>
                <a:cs typeface="Arial"/>
                <a:sym typeface="Arial"/>
              </a:rPr>
              <a:t>SNOWFLAKE </a:t>
            </a:r>
            <a:r>
              <a:rPr lang="en-US" sz="1800">
                <a:solidFill>
                  <a:srgbClr val="C8C8C8"/>
                </a:solidFill>
              </a:rPr>
              <a:t>WORLD TOUR</a:t>
            </a:r>
            <a:r>
              <a:rPr lang="en-US" sz="1800" b="0" i="0" u="none" strike="noStrike" cap="none">
                <a:solidFill>
                  <a:srgbClr val="C8C8C8"/>
                </a:solidFill>
                <a:latin typeface="Arial"/>
                <a:ea typeface="Arial"/>
                <a:cs typeface="Arial"/>
                <a:sym typeface="Arial"/>
              </a:rPr>
              <a:t> 202</a:t>
            </a:r>
            <a:r>
              <a:rPr lang="en-US" sz="1800">
                <a:solidFill>
                  <a:srgbClr val="C8C8C8"/>
                </a:solidFill>
              </a:rPr>
              <a:t>6</a:t>
            </a:r>
            <a:endParaRPr sz="1800">
              <a:solidFill>
                <a:srgbClr val="C8C8C8"/>
              </a:solidFill>
            </a:endParaRPr>
          </a:p>
          <a:p>
            <a:pPr marL="0" marR="0" lvl="0" indent="0" algn="r" rtl="0">
              <a:spcBef>
                <a:spcPts val="0"/>
              </a:spcBef>
              <a:spcAft>
                <a:spcPts val="0"/>
              </a:spcAft>
              <a:buNone/>
            </a:pPr>
            <a:r>
              <a:rPr lang="en-US" sz="1800" b="0" i="0" u="none" strike="noStrike" cap="none">
                <a:solidFill>
                  <a:srgbClr val="C8C8C8"/>
                </a:solidFill>
                <a:latin typeface="Arial"/>
                <a:ea typeface="Arial"/>
                <a:cs typeface="Arial"/>
                <a:sym typeface="Arial"/>
              </a:rPr>
              <a:t>v1.</a:t>
            </a:r>
            <a:r>
              <a:rPr lang="en-US" sz="1800">
                <a:solidFill>
                  <a:srgbClr val="C8C8C8"/>
                </a:solidFill>
              </a:rPr>
              <a:t>1</a:t>
            </a: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9" r:id="rId9"/>
    <p:sldLayoutId id="2147483660" r:id="rId10"/>
    <p:sldLayoutId id="2147483662" r:id="rId11"/>
    <p:sldLayoutId id="2147483664" r:id="rId12"/>
    <p:sldLayoutId id="2147483665" r:id="rId13"/>
    <p:sldLayoutId id="2147483666" r:id="rId14"/>
    <p:sldLayoutId id="2147483667" r:id="rId15"/>
    <p:sldLayoutId id="2147483668" r:id="rId16"/>
    <p:sldLayoutId id="2147483669" r:id="rId17"/>
    <p:sldLayoutId id="2147483671" r:id="rId18"/>
    <p:sldLayoutId id="2147483672" r:id="rId19"/>
    <p:sldLayoutId id="2147483673" r:id="rId20"/>
    <p:sldLayoutId id="2147483674" r:id="rId21"/>
    <p:sldLayoutId id="2147483675" r:id="rId22"/>
    <p:sldLayoutId id="2147483676" r:id="rId23"/>
    <p:sldLayoutId id="2147483677" r:id="rId24"/>
    <p:sldLayoutId id="2147483678" r:id="rId25"/>
    <p:sldLayoutId id="2147483679" r:id="rId26"/>
    <p:sldLayoutId id="2147483680" r:id="rId27"/>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760">
          <p15:clr>
            <a:srgbClr val="F26B43"/>
          </p15:clr>
        </p15:guide>
        <p15:guide id="2" orient="horz" pos="3240">
          <p15:clr>
            <a:srgbClr val="F26B43"/>
          </p15:clr>
        </p15:guide>
        <p15:guide id="3" pos="10992">
          <p15:clr>
            <a:srgbClr val="F26B43"/>
          </p15:clr>
        </p15:guide>
        <p15:guide id="4" pos="576">
          <p15:clr>
            <a:srgbClr val="F26B43"/>
          </p15:clr>
        </p15:guide>
        <p15:guide id="5" pos="8304">
          <p15:clr>
            <a:srgbClr val="F26B43"/>
          </p15:clr>
        </p15:guide>
        <p15:guide id="6" orient="horz" pos="5928">
          <p15:clr>
            <a:srgbClr val="F26B43"/>
          </p15:clr>
        </p15:guide>
        <p15:guide id="7" pos="8640">
          <p15:clr>
            <a:srgbClr val="F26B43"/>
          </p15:clr>
        </p15:guide>
        <p15:guide id="8" pos="5904">
          <p15:clr>
            <a:srgbClr val="F26B43"/>
          </p15:clr>
        </p15:guide>
        <p15:guide id="9" pos="5616">
          <p15:clr>
            <a:srgbClr val="F26B43"/>
          </p15:clr>
        </p15:guide>
        <p15:guide id="10" pos="3264">
          <p15:clr>
            <a:srgbClr val="F26B43"/>
          </p15:clr>
        </p15:guide>
        <p15:guide id="11" pos="2928">
          <p15:clr>
            <a:srgbClr val="F26B43"/>
          </p15:clr>
        </p15:guide>
        <p15:guide id="12" orient="horz" pos="7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snowflake.com/en/lp/radical-roi-generative-a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8"/>
          <p:cNvSpPr txBox="1">
            <a:spLocks noGrp="1"/>
          </p:cNvSpPr>
          <p:nvPr>
            <p:ph type="subTitle" idx="1"/>
          </p:nvPr>
        </p:nvSpPr>
        <p:spPr>
          <a:xfrm>
            <a:off x="856111" y="5825456"/>
            <a:ext cx="11839200" cy="818400"/>
          </a:xfrm>
          <a:prstGeom prst="rect">
            <a:avLst/>
          </a:prstGeom>
        </p:spPr>
        <p:txBody>
          <a:bodyPr spcFirstLastPara="1" wrap="square" lIns="182900" tIns="0" rIns="91450" bIns="45700" anchor="t" anchorCtr="0">
            <a:noAutofit/>
          </a:bodyPr>
          <a:lstStyle/>
          <a:p>
            <a:pPr marL="0" lvl="0" indent="0" algn="l" rtl="0">
              <a:lnSpc>
                <a:spcPct val="85000"/>
              </a:lnSpc>
              <a:spcBef>
                <a:spcPts val="0"/>
              </a:spcBef>
              <a:spcAft>
                <a:spcPts val="0"/>
              </a:spcAft>
              <a:buNone/>
            </a:pPr>
            <a:r>
              <a:rPr lang="en-US" sz="4000" dirty="0">
                <a:solidFill>
                  <a:schemeClr val="lt1"/>
                </a:solidFill>
              </a:rPr>
              <a:t>INNOVATE AT SCALE WITH CONFIDENCE </a:t>
            </a:r>
            <a:r>
              <a:rPr lang="en-US" sz="4000" dirty="0"/>
              <a:t>POWERING A SECURE AND RESILIENT AI ESTATE</a:t>
            </a:r>
            <a:endParaRPr sz="100" dirty="0"/>
          </a:p>
        </p:txBody>
      </p:sp>
      <p:grpSp>
        <p:nvGrpSpPr>
          <p:cNvPr id="323" name="Google Shape;323;p38"/>
          <p:cNvGrpSpPr/>
          <p:nvPr/>
        </p:nvGrpSpPr>
        <p:grpSpPr>
          <a:xfrm>
            <a:off x="917760" y="3347545"/>
            <a:ext cx="9428685" cy="1795958"/>
            <a:chOff x="4714874" y="4067495"/>
            <a:chExt cx="8797056" cy="1675647"/>
          </a:xfrm>
        </p:grpSpPr>
        <p:sp>
          <p:nvSpPr>
            <p:cNvPr id="324" name="Google Shape;324;p38"/>
            <p:cNvSpPr/>
            <p:nvPr/>
          </p:nvSpPr>
          <p:spPr>
            <a:xfrm>
              <a:off x="4714874" y="4067495"/>
              <a:ext cx="1652517" cy="1607906"/>
            </a:xfrm>
            <a:custGeom>
              <a:avLst/>
              <a:gdLst/>
              <a:ahLst/>
              <a:cxnLst/>
              <a:rect l="l" t="t" r="r" b="b"/>
              <a:pathLst>
                <a:path w="1101678" h="1071937" extrusionOk="0">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325" name="Google Shape;325;p38"/>
            <p:cNvSpPr/>
            <p:nvPr/>
          </p:nvSpPr>
          <p:spPr>
            <a:xfrm>
              <a:off x="6865060" y="4094534"/>
              <a:ext cx="6227805" cy="723565"/>
            </a:xfrm>
            <a:custGeom>
              <a:avLst/>
              <a:gdLst/>
              <a:ahLst/>
              <a:cxnLst/>
              <a:rect l="l" t="t" r="r" b="b"/>
              <a:pathLst>
                <a:path w="4151870" h="482377" extrusionOk="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326" name="Google Shape;326;p38"/>
            <p:cNvSpPr/>
            <p:nvPr/>
          </p:nvSpPr>
          <p:spPr>
            <a:xfrm>
              <a:off x="6848871" y="5019579"/>
              <a:ext cx="6663058" cy="723563"/>
            </a:xfrm>
            <a:custGeom>
              <a:avLst/>
              <a:gdLst/>
              <a:ahLst/>
              <a:cxnLst/>
              <a:rect l="l" t="t" r="r" b="b"/>
              <a:pathLst>
                <a:path w="4442039" h="482375" extrusionOk="0">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grpSp>
      <p:sp>
        <p:nvSpPr>
          <p:cNvPr id="5" name="TextBox 4">
            <a:extLst>
              <a:ext uri="{FF2B5EF4-FFF2-40B4-BE49-F238E27FC236}">
                <a16:creationId xmlns:a16="http://schemas.microsoft.com/office/drawing/2014/main" id="{88C803B5-510C-6EFF-6796-9E2302C80BEE}"/>
              </a:ext>
            </a:extLst>
          </p:cNvPr>
          <p:cNvSpPr txBox="1"/>
          <p:nvPr/>
        </p:nvSpPr>
        <p:spPr>
          <a:xfrm>
            <a:off x="917760" y="7708752"/>
            <a:ext cx="9172574" cy="1077218"/>
          </a:xfrm>
          <a:prstGeom prst="rect">
            <a:avLst/>
          </a:prstGeom>
          <a:noFill/>
        </p:spPr>
        <p:txBody>
          <a:bodyPr wrap="square">
            <a:spAutoFit/>
          </a:bodyPr>
          <a:lstStyle/>
          <a:p>
            <a:br>
              <a:rPr lang="en-US" sz="3200" dirty="0">
                <a:solidFill>
                  <a:schemeClr val="tx1"/>
                </a:solidFill>
              </a:rPr>
            </a:br>
            <a:r>
              <a:rPr lang="en-US" sz="3200" dirty="0">
                <a:solidFill>
                  <a:schemeClr val="tx1"/>
                </a:solidFill>
              </a:rPr>
              <a:t>Colm Moynihan, Principal Solution Engineer</a:t>
            </a:r>
            <a:endParaRPr lang="en-US" sz="28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2"/>
          <p:cNvSpPr/>
          <p:nvPr/>
        </p:nvSpPr>
        <p:spPr>
          <a:xfrm>
            <a:off x="8804350" y="2084250"/>
            <a:ext cx="8386200" cy="1850400"/>
          </a:xfrm>
          <a:prstGeom prst="roundRect">
            <a:avLst>
              <a:gd name="adj" fmla="val 8474"/>
            </a:avLst>
          </a:prstGeom>
          <a:solidFill>
            <a:srgbClr val="EAF8FF"/>
          </a:solidFill>
          <a:ln w="28575" cap="flat" cmpd="sng">
            <a:solidFill>
              <a:schemeClr val="accent1"/>
            </a:solidFill>
            <a:prstDash val="solid"/>
            <a:round/>
            <a:headEnd type="none" w="sm" len="sm"/>
            <a:tailEnd type="none" w="sm" len="sm"/>
          </a:ln>
        </p:spPr>
        <p:txBody>
          <a:bodyPr spcFirstLastPara="1" wrap="square" lIns="182875" tIns="182875" rIns="182875" bIns="182875" anchor="ctr" anchorCtr="0">
            <a:noAutofit/>
          </a:bodyPr>
          <a:lstStyle/>
          <a:p>
            <a:pPr marL="0" lvl="0" indent="0" algn="l" rtl="0">
              <a:spcBef>
                <a:spcPts val="0"/>
              </a:spcBef>
              <a:spcAft>
                <a:spcPts val="0"/>
              </a:spcAft>
              <a:buNone/>
            </a:pPr>
            <a:r>
              <a:rPr lang="en-US" sz="2300"/>
              <a:t>Findings from a Snowflake study shows, 96% still face significant challenges with data quality and quantity, employee skills, integration with legacy systems, and more.</a:t>
            </a:r>
            <a:r>
              <a:rPr lang="en-US" sz="2300" baseline="30000"/>
              <a:t>1</a:t>
            </a:r>
            <a:endParaRPr sz="1300"/>
          </a:p>
        </p:txBody>
      </p:sp>
      <p:sp>
        <p:nvSpPr>
          <p:cNvPr id="358" name="Google Shape;358;p42"/>
          <p:cNvSpPr/>
          <p:nvPr/>
        </p:nvSpPr>
        <p:spPr>
          <a:xfrm>
            <a:off x="8804350" y="4218300"/>
            <a:ext cx="8386200" cy="1850400"/>
          </a:xfrm>
          <a:prstGeom prst="roundRect">
            <a:avLst>
              <a:gd name="adj" fmla="val 8474"/>
            </a:avLst>
          </a:prstGeom>
          <a:solidFill>
            <a:srgbClr val="EAF8FF"/>
          </a:solidFill>
          <a:ln w="28575" cap="flat" cmpd="sng">
            <a:solidFill>
              <a:schemeClr val="accent1"/>
            </a:solidFill>
            <a:prstDash val="solid"/>
            <a:round/>
            <a:headEnd type="none" w="sm" len="sm"/>
            <a:tailEnd type="none" w="sm" len="sm"/>
          </a:ln>
        </p:spPr>
        <p:txBody>
          <a:bodyPr spcFirstLastPara="1" wrap="square" lIns="182875" tIns="182875" rIns="182875" bIns="182875" anchor="ctr" anchorCtr="0">
            <a:noAutofit/>
          </a:bodyPr>
          <a:lstStyle/>
          <a:p>
            <a:pPr marL="0" lvl="0" indent="0" algn="l" rtl="0">
              <a:spcBef>
                <a:spcPts val="0"/>
              </a:spcBef>
              <a:spcAft>
                <a:spcPts val="0"/>
              </a:spcAft>
              <a:buNone/>
            </a:pPr>
            <a:r>
              <a:rPr lang="en-US" sz="2300"/>
              <a:t>According to Gartner</a:t>
            </a:r>
            <a:r>
              <a:rPr lang="en-US" sz="2300" baseline="30000"/>
              <a:t>ⓡ </a:t>
            </a:r>
            <a:r>
              <a:rPr lang="en-US" sz="2300"/>
              <a:t>by 2027, 80% of large enterprises will have clearly defined, reusable governance and guardrail practices for their conversational AI agents and assistants.</a:t>
            </a:r>
            <a:r>
              <a:rPr lang="en-US" sz="2300" baseline="30000"/>
              <a:t>2</a:t>
            </a:r>
            <a:endParaRPr sz="1300"/>
          </a:p>
        </p:txBody>
      </p:sp>
      <p:sp>
        <p:nvSpPr>
          <p:cNvPr id="359" name="Google Shape;359;p42"/>
          <p:cNvSpPr/>
          <p:nvPr/>
        </p:nvSpPr>
        <p:spPr>
          <a:xfrm>
            <a:off x="8804350" y="6485275"/>
            <a:ext cx="8386200" cy="1850400"/>
          </a:xfrm>
          <a:prstGeom prst="roundRect">
            <a:avLst>
              <a:gd name="adj" fmla="val 8474"/>
            </a:avLst>
          </a:prstGeom>
          <a:solidFill>
            <a:srgbClr val="EAF8FF"/>
          </a:solidFill>
          <a:ln w="28575" cap="flat" cmpd="sng">
            <a:solidFill>
              <a:schemeClr val="accent1"/>
            </a:solidFill>
            <a:prstDash val="solid"/>
            <a:round/>
            <a:headEnd type="none" w="sm" len="sm"/>
            <a:tailEnd type="none" w="sm" len="sm"/>
          </a:ln>
        </p:spPr>
        <p:txBody>
          <a:bodyPr spcFirstLastPara="1" wrap="square" lIns="182875" tIns="182875" rIns="182875" bIns="182875" anchor="ctr" anchorCtr="0">
            <a:noAutofit/>
          </a:bodyPr>
          <a:lstStyle/>
          <a:p>
            <a:pPr marL="0" lvl="0" indent="0" algn="l" rtl="0">
              <a:spcBef>
                <a:spcPts val="0"/>
              </a:spcBef>
              <a:spcAft>
                <a:spcPts val="0"/>
              </a:spcAft>
              <a:buNone/>
            </a:pPr>
            <a:r>
              <a:rPr lang="en-US" sz="2300"/>
              <a:t>According to Gartner</a:t>
            </a:r>
            <a:r>
              <a:rPr lang="en-US" sz="2300" baseline="30000"/>
              <a:t>ⓡ</a:t>
            </a:r>
            <a:r>
              <a:rPr lang="en-US" sz="2300"/>
              <a:t> through 2029, over 50% of successful cybersecurity attacks against AI agents will exploit access control issues, using direct or indirect prompt injection as an attack vector.</a:t>
            </a:r>
            <a:r>
              <a:rPr lang="en-US" sz="2300" baseline="30000"/>
              <a:t>3</a:t>
            </a:r>
            <a:endParaRPr sz="1300"/>
          </a:p>
        </p:txBody>
      </p:sp>
      <p:sp>
        <p:nvSpPr>
          <p:cNvPr id="360" name="Google Shape;360;p42"/>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The World Is Changing </a:t>
            </a:r>
            <a:endParaRPr/>
          </a:p>
        </p:txBody>
      </p:sp>
      <p:sp>
        <p:nvSpPr>
          <p:cNvPr id="361" name="Google Shape;361;p42"/>
          <p:cNvSpPr txBox="1"/>
          <p:nvPr/>
        </p:nvSpPr>
        <p:spPr>
          <a:xfrm>
            <a:off x="914400" y="3054750"/>
            <a:ext cx="6571800" cy="41775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4000" b="1">
                <a:solidFill>
                  <a:schemeClr val="dk2"/>
                </a:solidFill>
              </a:rPr>
              <a:t>Agents don't just answer questions they </a:t>
            </a:r>
            <a:br>
              <a:rPr lang="en-US" sz="4000" b="1">
                <a:solidFill>
                  <a:schemeClr val="dk2"/>
                </a:solidFill>
              </a:rPr>
            </a:br>
            <a:endParaRPr sz="4000" b="1">
              <a:solidFill>
                <a:schemeClr val="dk2"/>
              </a:solidFill>
            </a:endParaRPr>
          </a:p>
          <a:p>
            <a:pPr marL="502920" lvl="0" indent="-444500" algn="l" rtl="0">
              <a:spcBef>
                <a:spcPts val="1000"/>
              </a:spcBef>
              <a:spcAft>
                <a:spcPts val="0"/>
              </a:spcAft>
              <a:buClr>
                <a:schemeClr val="accent1"/>
              </a:buClr>
              <a:buSzPts val="3400"/>
              <a:buChar char="●"/>
            </a:pPr>
            <a:r>
              <a:rPr lang="en-US" sz="3400">
                <a:solidFill>
                  <a:schemeClr val="dk1"/>
                </a:solidFill>
              </a:rPr>
              <a:t>Take actions</a:t>
            </a:r>
            <a:endParaRPr sz="3400">
              <a:solidFill>
                <a:schemeClr val="dk1"/>
              </a:solidFill>
            </a:endParaRPr>
          </a:p>
          <a:p>
            <a:pPr marL="502920" lvl="0" indent="-444500" algn="l" rtl="0">
              <a:spcBef>
                <a:spcPts val="1000"/>
              </a:spcBef>
              <a:spcAft>
                <a:spcPts val="0"/>
              </a:spcAft>
              <a:buClr>
                <a:schemeClr val="accent1"/>
              </a:buClr>
              <a:buSzPts val="3400"/>
              <a:buChar char="●"/>
            </a:pPr>
            <a:r>
              <a:rPr lang="en-US" sz="3400">
                <a:solidFill>
                  <a:schemeClr val="dk1"/>
                </a:solidFill>
              </a:rPr>
              <a:t>Access sensitive data</a:t>
            </a:r>
            <a:endParaRPr sz="3400">
              <a:solidFill>
                <a:schemeClr val="dk1"/>
              </a:solidFill>
            </a:endParaRPr>
          </a:p>
          <a:p>
            <a:pPr marL="502920" lvl="0" indent="-444500" algn="l" rtl="0">
              <a:spcBef>
                <a:spcPts val="1000"/>
              </a:spcBef>
              <a:spcAft>
                <a:spcPts val="1000"/>
              </a:spcAft>
              <a:buClr>
                <a:schemeClr val="accent1"/>
              </a:buClr>
              <a:buSzPts val="3400"/>
              <a:buChar char="●"/>
            </a:pPr>
            <a:r>
              <a:rPr lang="en-US" sz="3400">
                <a:solidFill>
                  <a:schemeClr val="dk1"/>
                </a:solidFill>
              </a:rPr>
              <a:t>Make decisions</a:t>
            </a:r>
            <a:endParaRPr sz="4000">
              <a:solidFill>
                <a:schemeClr val="dk1"/>
              </a:solidFill>
            </a:endParaRPr>
          </a:p>
        </p:txBody>
      </p:sp>
      <p:sp>
        <p:nvSpPr>
          <p:cNvPr id="362" name="Google Shape;362;p42"/>
          <p:cNvSpPr txBox="1"/>
          <p:nvPr/>
        </p:nvSpPr>
        <p:spPr>
          <a:xfrm>
            <a:off x="8804350" y="8686950"/>
            <a:ext cx="8645400" cy="7953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p>
            <a:pPr marL="342900" lvl="0" indent="-234950" algn="l" rtl="0">
              <a:lnSpc>
                <a:spcPct val="115000"/>
              </a:lnSpc>
              <a:spcBef>
                <a:spcPts val="1500"/>
              </a:spcBef>
              <a:spcAft>
                <a:spcPts val="0"/>
              </a:spcAft>
              <a:buClr>
                <a:srgbClr val="5B5B5B"/>
              </a:buClr>
              <a:buSzPts val="1000"/>
              <a:buAutoNum type="arabicPeriod"/>
            </a:pPr>
            <a:r>
              <a:rPr lang="en-US" sz="1000">
                <a:solidFill>
                  <a:srgbClr val="5B5B5B"/>
                </a:solidFill>
              </a:rPr>
              <a:t>Snowflake study: </a:t>
            </a:r>
            <a:r>
              <a:rPr lang="en-US" sz="1000" i="1" u="sng">
                <a:solidFill>
                  <a:srgbClr val="5B5B5B"/>
                </a:solidFill>
                <a:hlinkClick r:id="rId3">
                  <a:extLst>
                    <a:ext uri="{A12FA001-AC4F-418D-AE19-62706E023703}">
                      <ahyp:hlinkClr xmlns:ahyp="http://schemas.microsoft.com/office/drawing/2018/hyperlinkcolor" val="tx"/>
                    </a:ext>
                  </a:extLst>
                </a:hlinkClick>
              </a:rPr>
              <a:t>https://www.snowflake.com/en/lp/radical-roi-generative-ai/</a:t>
            </a:r>
            <a:endParaRPr sz="1000">
              <a:solidFill>
                <a:srgbClr val="5B5B5B"/>
              </a:solidFill>
            </a:endParaRPr>
          </a:p>
          <a:p>
            <a:pPr marL="342900" lvl="0" indent="-234950" algn="l" rtl="0">
              <a:lnSpc>
                <a:spcPct val="115000"/>
              </a:lnSpc>
              <a:spcBef>
                <a:spcPts val="0"/>
              </a:spcBef>
              <a:spcAft>
                <a:spcPts val="0"/>
              </a:spcAft>
              <a:buClr>
                <a:srgbClr val="5B5B5B"/>
              </a:buClr>
              <a:buSzPts val="1000"/>
              <a:buAutoNum type="arabicPeriod"/>
            </a:pPr>
            <a:r>
              <a:rPr lang="en-US" sz="1000">
                <a:solidFill>
                  <a:srgbClr val="5B5B5B"/>
                </a:solidFill>
              </a:rPr>
              <a:t>Gartner, Practical AI Security: Managing Web-Based AI Assistants,Nader Henein,25, October 2025.</a:t>
            </a:r>
            <a:endParaRPr sz="1000">
              <a:solidFill>
                <a:srgbClr val="5B5B5B"/>
              </a:solidFill>
            </a:endParaRPr>
          </a:p>
          <a:p>
            <a:pPr marL="342900" lvl="0" indent="-234950" algn="l" rtl="0">
              <a:lnSpc>
                <a:spcPct val="115000"/>
              </a:lnSpc>
              <a:spcBef>
                <a:spcPts val="0"/>
              </a:spcBef>
              <a:spcAft>
                <a:spcPts val="0"/>
              </a:spcAft>
              <a:buClr>
                <a:srgbClr val="5B5B5B"/>
              </a:buClr>
              <a:buSzPts val="1000"/>
              <a:buAutoNum type="arabicPeriod"/>
            </a:pPr>
            <a:r>
              <a:rPr lang="en-US" sz="1000">
                <a:solidFill>
                  <a:srgbClr val="5B5B5B"/>
                </a:solidFill>
              </a:rPr>
              <a:t>Gartner, Emerging Tech: The Future of AI Security Is in Securing Agent Actions, Not Prompts,  Mark Wan and David Senf, 20 February,2026.</a:t>
            </a:r>
            <a:br>
              <a:rPr lang="en-US" sz="1000">
                <a:solidFill>
                  <a:srgbClr val="5B5B5B"/>
                </a:solidFill>
              </a:rPr>
            </a:br>
            <a:r>
              <a:rPr lang="en-US" sz="1000">
                <a:solidFill>
                  <a:srgbClr val="5B5B5B"/>
                </a:solidFill>
              </a:rPr>
              <a:t>GARTNER is the trademark of Gartner Inc and or its affiliates</a:t>
            </a:r>
            <a:endParaRPr sz="1000">
              <a:solidFill>
                <a:srgbClr val="5B5B5B"/>
              </a:solidFill>
            </a:endParaRPr>
          </a:p>
          <a:p>
            <a:pPr marL="342900" lvl="0" indent="-171450" algn="l" rtl="0">
              <a:lnSpc>
                <a:spcPct val="115000"/>
              </a:lnSpc>
              <a:spcBef>
                <a:spcPts val="1500"/>
              </a:spcBef>
              <a:spcAft>
                <a:spcPts val="0"/>
              </a:spcAft>
              <a:buNone/>
            </a:pPr>
            <a:endParaRPr sz="1000" i="1">
              <a:solidFill>
                <a:srgbClr val="5B5B5B"/>
              </a:solidFill>
            </a:endParaRPr>
          </a:p>
          <a:p>
            <a:pPr marL="342900" lvl="0" indent="-171450" algn="l" rtl="0">
              <a:lnSpc>
                <a:spcPct val="115000"/>
              </a:lnSpc>
              <a:spcBef>
                <a:spcPts val="0"/>
              </a:spcBef>
              <a:spcAft>
                <a:spcPts val="0"/>
              </a:spcAft>
              <a:buNone/>
            </a:pPr>
            <a:endParaRPr sz="1000">
              <a:solidFill>
                <a:srgbClr val="5B5B5B"/>
              </a:solidFill>
            </a:endParaRPr>
          </a:p>
          <a:p>
            <a:pPr marL="342900" lvl="0" indent="-171450" algn="l" rtl="0">
              <a:lnSpc>
                <a:spcPct val="115000"/>
              </a:lnSpc>
              <a:spcBef>
                <a:spcPts val="0"/>
              </a:spcBef>
              <a:spcAft>
                <a:spcPts val="0"/>
              </a:spcAft>
              <a:buNone/>
            </a:pPr>
            <a:endParaRPr sz="1000">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3"/>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Top Concerns From Security Leaders</a:t>
            </a:r>
            <a:endParaRPr/>
          </a:p>
        </p:txBody>
      </p:sp>
      <p:sp>
        <p:nvSpPr>
          <p:cNvPr id="369" name="Google Shape;369;p43"/>
          <p:cNvSpPr/>
          <p:nvPr/>
        </p:nvSpPr>
        <p:spPr>
          <a:xfrm>
            <a:off x="914400" y="2743200"/>
            <a:ext cx="5143500" cy="4953000"/>
          </a:xfrm>
          <a:prstGeom prst="roundRect">
            <a:avLst>
              <a:gd name="adj" fmla="val 4615"/>
            </a:avLst>
          </a:prstGeom>
          <a:solidFill>
            <a:srgbClr val="EAF8FF"/>
          </a:solidFill>
          <a:ln w="1905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0" name="Google Shape;370;p43"/>
          <p:cNvSpPr/>
          <p:nvPr/>
        </p:nvSpPr>
        <p:spPr>
          <a:xfrm>
            <a:off x="914400" y="2743200"/>
            <a:ext cx="5143500" cy="1714500"/>
          </a:xfrm>
          <a:prstGeom prst="roundRect">
            <a:avLst>
              <a:gd name="adj" fmla="val 13333"/>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1" name="Google Shape;371;p43"/>
          <p:cNvSpPr/>
          <p:nvPr/>
        </p:nvSpPr>
        <p:spPr>
          <a:xfrm>
            <a:off x="914400" y="4076700"/>
            <a:ext cx="5143500" cy="381000"/>
          </a:xfrm>
          <a:prstGeom prst="rect">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2" name="Google Shape;372;p43"/>
          <p:cNvSpPr txBox="1"/>
          <p:nvPr/>
        </p:nvSpPr>
        <p:spPr>
          <a:xfrm>
            <a:off x="1200150" y="6419775"/>
            <a:ext cx="45720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chemeClr val="dk2"/>
                </a:solidFill>
                <a:latin typeface="Inter"/>
                <a:ea typeface="Inter"/>
                <a:cs typeface="Inter"/>
                <a:sym typeface="Inter"/>
              </a:rPr>
              <a:t>Least privileged access</a:t>
            </a:r>
            <a:endParaRPr sz="2800" b="1">
              <a:solidFill>
                <a:schemeClr val="dk2"/>
              </a:solidFill>
              <a:latin typeface="Inter"/>
              <a:ea typeface="Inter"/>
              <a:cs typeface="Inter"/>
              <a:sym typeface="Inter"/>
            </a:endParaRPr>
          </a:p>
        </p:txBody>
      </p:sp>
      <p:sp>
        <p:nvSpPr>
          <p:cNvPr id="373" name="Google Shape;373;p43"/>
          <p:cNvSpPr/>
          <p:nvPr/>
        </p:nvSpPr>
        <p:spPr>
          <a:xfrm>
            <a:off x="6610350" y="2743200"/>
            <a:ext cx="5143500" cy="4953000"/>
          </a:xfrm>
          <a:prstGeom prst="roundRect">
            <a:avLst>
              <a:gd name="adj" fmla="val 4615"/>
            </a:avLst>
          </a:prstGeom>
          <a:solidFill>
            <a:srgbClr val="EAF8FF"/>
          </a:solidFill>
          <a:ln w="1905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4" name="Google Shape;374;p43"/>
          <p:cNvSpPr/>
          <p:nvPr/>
        </p:nvSpPr>
        <p:spPr>
          <a:xfrm>
            <a:off x="6610350" y="2743200"/>
            <a:ext cx="5143500" cy="1714500"/>
          </a:xfrm>
          <a:prstGeom prst="roundRect">
            <a:avLst>
              <a:gd name="adj" fmla="val 13333"/>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5" name="Google Shape;375;p43"/>
          <p:cNvSpPr/>
          <p:nvPr/>
        </p:nvSpPr>
        <p:spPr>
          <a:xfrm>
            <a:off x="6610350" y="4076700"/>
            <a:ext cx="5143500" cy="381000"/>
          </a:xfrm>
          <a:prstGeom prst="rect">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6" name="Google Shape;376;p43"/>
          <p:cNvSpPr txBox="1"/>
          <p:nvPr/>
        </p:nvSpPr>
        <p:spPr>
          <a:xfrm>
            <a:off x="6896100" y="6419775"/>
            <a:ext cx="45720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chemeClr val="dk2"/>
                </a:solidFill>
                <a:latin typeface="Inter"/>
                <a:ea typeface="Inter"/>
                <a:cs typeface="Inter"/>
                <a:sym typeface="Inter"/>
              </a:rPr>
              <a:t>Access to sensitive data</a:t>
            </a:r>
            <a:endParaRPr sz="2800" b="1">
              <a:solidFill>
                <a:schemeClr val="dk2"/>
              </a:solidFill>
              <a:latin typeface="Inter"/>
              <a:ea typeface="Inter"/>
              <a:cs typeface="Inter"/>
              <a:sym typeface="Inter"/>
            </a:endParaRPr>
          </a:p>
        </p:txBody>
      </p:sp>
      <p:sp>
        <p:nvSpPr>
          <p:cNvPr id="377" name="Google Shape;377;p43"/>
          <p:cNvSpPr/>
          <p:nvPr/>
        </p:nvSpPr>
        <p:spPr>
          <a:xfrm>
            <a:off x="12306300" y="2743200"/>
            <a:ext cx="5143500" cy="4953000"/>
          </a:xfrm>
          <a:prstGeom prst="roundRect">
            <a:avLst>
              <a:gd name="adj" fmla="val 4615"/>
            </a:avLst>
          </a:prstGeom>
          <a:solidFill>
            <a:srgbClr val="EAF8FF"/>
          </a:solidFill>
          <a:ln w="1905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8" name="Google Shape;378;p43"/>
          <p:cNvSpPr/>
          <p:nvPr/>
        </p:nvSpPr>
        <p:spPr>
          <a:xfrm>
            <a:off x="12306300" y="2743200"/>
            <a:ext cx="5143500" cy="1714500"/>
          </a:xfrm>
          <a:prstGeom prst="roundRect">
            <a:avLst>
              <a:gd name="adj" fmla="val 13333"/>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9" name="Google Shape;379;p43"/>
          <p:cNvSpPr/>
          <p:nvPr/>
        </p:nvSpPr>
        <p:spPr>
          <a:xfrm>
            <a:off x="12306300" y="4076700"/>
            <a:ext cx="5143500" cy="381000"/>
          </a:xfrm>
          <a:prstGeom prst="rect">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0" name="Google Shape;380;p43"/>
          <p:cNvSpPr txBox="1"/>
          <p:nvPr/>
        </p:nvSpPr>
        <p:spPr>
          <a:xfrm>
            <a:off x="12592050" y="6419775"/>
            <a:ext cx="45720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chemeClr val="dk2"/>
                </a:solidFill>
                <a:latin typeface="Inter"/>
                <a:ea typeface="Inter"/>
                <a:cs typeface="Inter"/>
                <a:sym typeface="Inter"/>
              </a:rPr>
              <a:t>Single pane of glass</a:t>
            </a:r>
            <a:endParaRPr sz="2800" b="1">
              <a:solidFill>
                <a:schemeClr val="dk2"/>
              </a:solidFill>
              <a:latin typeface="Inter"/>
              <a:ea typeface="Inter"/>
              <a:cs typeface="Inter"/>
              <a:sym typeface="Inter"/>
            </a:endParaRPr>
          </a:p>
        </p:txBody>
      </p:sp>
      <p:sp>
        <p:nvSpPr>
          <p:cNvPr id="381" name="Google Shape;381;p43"/>
          <p:cNvSpPr/>
          <p:nvPr/>
        </p:nvSpPr>
        <p:spPr>
          <a:xfrm>
            <a:off x="2721900" y="4807650"/>
            <a:ext cx="1528500" cy="15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43"/>
          <p:cNvSpPr/>
          <p:nvPr/>
        </p:nvSpPr>
        <p:spPr>
          <a:xfrm>
            <a:off x="8326475" y="4807650"/>
            <a:ext cx="1528500" cy="15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3;p43"/>
          <p:cNvSpPr/>
          <p:nvPr/>
        </p:nvSpPr>
        <p:spPr>
          <a:xfrm>
            <a:off x="14113800" y="4807650"/>
            <a:ext cx="1528500" cy="15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4" name="Google Shape;384;p43"/>
          <p:cNvGrpSpPr/>
          <p:nvPr/>
        </p:nvGrpSpPr>
        <p:grpSpPr>
          <a:xfrm>
            <a:off x="14492948" y="5310099"/>
            <a:ext cx="770204" cy="523602"/>
            <a:chOff x="2530494" y="2796138"/>
            <a:chExt cx="527971" cy="358902"/>
          </a:xfrm>
        </p:grpSpPr>
        <p:sp>
          <p:nvSpPr>
            <p:cNvPr id="385" name="Google Shape;385;p43"/>
            <p:cNvSpPr/>
            <p:nvPr/>
          </p:nvSpPr>
          <p:spPr>
            <a:xfrm>
              <a:off x="2530494" y="2796138"/>
              <a:ext cx="84677" cy="84677"/>
            </a:xfrm>
            <a:custGeom>
              <a:avLst/>
              <a:gdLst/>
              <a:ahLst/>
              <a:cxnLst/>
              <a:rect l="l" t="t" r="r" b="b"/>
              <a:pathLst>
                <a:path w="84677" h="84677" extrusionOk="0">
                  <a:moveTo>
                    <a:pt x="11906" y="84677"/>
                  </a:moveTo>
                  <a:cubicBezTo>
                    <a:pt x="18479" y="84677"/>
                    <a:pt x="23813" y="79343"/>
                    <a:pt x="23813" y="72771"/>
                  </a:cubicBezTo>
                  <a:lnTo>
                    <a:pt x="23813" y="23813"/>
                  </a:lnTo>
                  <a:lnTo>
                    <a:pt x="72771" y="23813"/>
                  </a:lnTo>
                  <a:cubicBezTo>
                    <a:pt x="79343" y="23813"/>
                    <a:pt x="84677" y="18479"/>
                    <a:pt x="84677" y="11906"/>
                  </a:cubicBezTo>
                  <a:cubicBezTo>
                    <a:pt x="84677" y="5334"/>
                    <a:pt x="79343" y="0"/>
                    <a:pt x="72771" y="0"/>
                  </a:cubicBezTo>
                  <a:lnTo>
                    <a:pt x="11906" y="0"/>
                  </a:lnTo>
                  <a:cubicBezTo>
                    <a:pt x="5334" y="0"/>
                    <a:pt x="0" y="5334"/>
                    <a:pt x="0" y="11906"/>
                  </a:cubicBezTo>
                  <a:lnTo>
                    <a:pt x="0" y="72771"/>
                  </a:lnTo>
                  <a:cubicBezTo>
                    <a:pt x="0" y="79343"/>
                    <a:pt x="5334" y="84677"/>
                    <a:pt x="11906" y="84677"/>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6" name="Google Shape;386;p43"/>
            <p:cNvSpPr/>
            <p:nvPr/>
          </p:nvSpPr>
          <p:spPr>
            <a:xfrm>
              <a:off x="2973788" y="2796138"/>
              <a:ext cx="84677" cy="84677"/>
            </a:xfrm>
            <a:custGeom>
              <a:avLst/>
              <a:gdLst/>
              <a:ahLst/>
              <a:cxnLst/>
              <a:rect l="l" t="t" r="r" b="b"/>
              <a:pathLst>
                <a:path w="84677" h="84677" extrusionOk="0">
                  <a:moveTo>
                    <a:pt x="72771" y="0"/>
                  </a:moveTo>
                  <a:lnTo>
                    <a:pt x="11906" y="0"/>
                  </a:lnTo>
                  <a:cubicBezTo>
                    <a:pt x="5334" y="0"/>
                    <a:pt x="0" y="5334"/>
                    <a:pt x="0" y="11906"/>
                  </a:cubicBezTo>
                  <a:cubicBezTo>
                    <a:pt x="0" y="18479"/>
                    <a:pt x="5334" y="23813"/>
                    <a:pt x="11906" y="23813"/>
                  </a:cubicBezTo>
                  <a:lnTo>
                    <a:pt x="60865" y="23813"/>
                  </a:lnTo>
                  <a:lnTo>
                    <a:pt x="60865" y="72771"/>
                  </a:lnTo>
                  <a:cubicBezTo>
                    <a:pt x="60865" y="79343"/>
                    <a:pt x="66199" y="84677"/>
                    <a:pt x="72771" y="84677"/>
                  </a:cubicBezTo>
                  <a:cubicBezTo>
                    <a:pt x="79343" y="84677"/>
                    <a:pt x="84677" y="79343"/>
                    <a:pt x="84677" y="72771"/>
                  </a:cubicBezTo>
                  <a:lnTo>
                    <a:pt x="84677" y="11906"/>
                  </a:lnTo>
                  <a:cubicBezTo>
                    <a:pt x="84677" y="5334"/>
                    <a:pt x="79343" y="0"/>
                    <a:pt x="72771" y="0"/>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7" name="Google Shape;387;p43"/>
            <p:cNvSpPr/>
            <p:nvPr/>
          </p:nvSpPr>
          <p:spPr>
            <a:xfrm>
              <a:off x="2530494" y="3070268"/>
              <a:ext cx="84677" cy="84677"/>
            </a:xfrm>
            <a:custGeom>
              <a:avLst/>
              <a:gdLst/>
              <a:ahLst/>
              <a:cxnLst/>
              <a:rect l="l" t="t" r="r" b="b"/>
              <a:pathLst>
                <a:path w="84677" h="84677" extrusionOk="0">
                  <a:moveTo>
                    <a:pt x="72771" y="60865"/>
                  </a:moveTo>
                  <a:lnTo>
                    <a:pt x="23813" y="60865"/>
                  </a:lnTo>
                  <a:lnTo>
                    <a:pt x="23813" y="11906"/>
                  </a:lnTo>
                  <a:cubicBezTo>
                    <a:pt x="23813" y="5334"/>
                    <a:pt x="18479" y="0"/>
                    <a:pt x="11906" y="0"/>
                  </a:cubicBezTo>
                  <a:cubicBezTo>
                    <a:pt x="5334" y="0"/>
                    <a:pt x="0" y="5334"/>
                    <a:pt x="0" y="11906"/>
                  </a:cubicBezTo>
                  <a:lnTo>
                    <a:pt x="0" y="72771"/>
                  </a:lnTo>
                  <a:cubicBezTo>
                    <a:pt x="0" y="79343"/>
                    <a:pt x="5334" y="84677"/>
                    <a:pt x="11906" y="84677"/>
                  </a:cubicBezTo>
                  <a:lnTo>
                    <a:pt x="72771" y="84677"/>
                  </a:lnTo>
                  <a:cubicBezTo>
                    <a:pt x="79343" y="84677"/>
                    <a:pt x="84677" y="79343"/>
                    <a:pt x="84677" y="72771"/>
                  </a:cubicBezTo>
                  <a:cubicBezTo>
                    <a:pt x="84677" y="66199"/>
                    <a:pt x="79343" y="60865"/>
                    <a:pt x="72771" y="60865"/>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8" name="Google Shape;388;p43"/>
            <p:cNvSpPr/>
            <p:nvPr/>
          </p:nvSpPr>
          <p:spPr>
            <a:xfrm>
              <a:off x="2973788" y="3070363"/>
              <a:ext cx="84677" cy="84677"/>
            </a:xfrm>
            <a:custGeom>
              <a:avLst/>
              <a:gdLst/>
              <a:ahLst/>
              <a:cxnLst/>
              <a:rect l="l" t="t" r="r" b="b"/>
              <a:pathLst>
                <a:path w="84677" h="84677" extrusionOk="0">
                  <a:moveTo>
                    <a:pt x="72771" y="0"/>
                  </a:moveTo>
                  <a:cubicBezTo>
                    <a:pt x="66199" y="0"/>
                    <a:pt x="60865" y="5334"/>
                    <a:pt x="60865" y="11906"/>
                  </a:cubicBezTo>
                  <a:lnTo>
                    <a:pt x="60865" y="60865"/>
                  </a:lnTo>
                  <a:lnTo>
                    <a:pt x="11906" y="60865"/>
                  </a:lnTo>
                  <a:cubicBezTo>
                    <a:pt x="5334" y="60865"/>
                    <a:pt x="0" y="66199"/>
                    <a:pt x="0" y="72771"/>
                  </a:cubicBezTo>
                  <a:cubicBezTo>
                    <a:pt x="0" y="79343"/>
                    <a:pt x="5334" y="84677"/>
                    <a:pt x="11906" y="84677"/>
                  </a:cubicBezTo>
                  <a:lnTo>
                    <a:pt x="72771" y="84677"/>
                  </a:lnTo>
                  <a:cubicBezTo>
                    <a:pt x="79343" y="84677"/>
                    <a:pt x="84677" y="79343"/>
                    <a:pt x="84677" y="72771"/>
                  </a:cubicBezTo>
                  <a:lnTo>
                    <a:pt x="84677" y="11906"/>
                  </a:lnTo>
                  <a:cubicBezTo>
                    <a:pt x="84677" y="5334"/>
                    <a:pt x="79343" y="0"/>
                    <a:pt x="72771" y="0"/>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9" name="Google Shape;389;p43"/>
            <p:cNvSpPr/>
            <p:nvPr/>
          </p:nvSpPr>
          <p:spPr>
            <a:xfrm>
              <a:off x="2551068" y="2849728"/>
              <a:ext cx="490301" cy="252734"/>
            </a:xfrm>
            <a:custGeom>
              <a:avLst/>
              <a:gdLst/>
              <a:ahLst/>
              <a:cxnLst/>
              <a:rect l="l" t="t" r="r" b="b"/>
              <a:pathLst>
                <a:path w="490301" h="252734" extrusionOk="0">
                  <a:moveTo>
                    <a:pt x="485680" y="138434"/>
                  </a:moveTo>
                  <a:cubicBezTo>
                    <a:pt x="486156" y="137672"/>
                    <a:pt x="486632" y="136910"/>
                    <a:pt x="487013" y="136148"/>
                  </a:cubicBezTo>
                  <a:lnTo>
                    <a:pt x="488347" y="133386"/>
                  </a:lnTo>
                  <a:cubicBezTo>
                    <a:pt x="491395" y="127195"/>
                    <a:pt x="490823" y="119860"/>
                    <a:pt x="487013" y="114241"/>
                  </a:cubicBezTo>
                  <a:cubicBezTo>
                    <a:pt x="437198" y="41279"/>
                    <a:pt x="339757" y="-2726"/>
                    <a:pt x="232982" y="131"/>
                  </a:cubicBezTo>
                  <a:cubicBezTo>
                    <a:pt x="131636" y="2512"/>
                    <a:pt x="45625" y="45470"/>
                    <a:pt x="2858" y="115003"/>
                  </a:cubicBezTo>
                  <a:cubicBezTo>
                    <a:pt x="1048" y="117955"/>
                    <a:pt x="0" y="121480"/>
                    <a:pt x="0" y="125004"/>
                  </a:cubicBezTo>
                  <a:lnTo>
                    <a:pt x="0" y="127766"/>
                  </a:lnTo>
                  <a:cubicBezTo>
                    <a:pt x="0" y="131290"/>
                    <a:pt x="952" y="134719"/>
                    <a:pt x="2858" y="137767"/>
                  </a:cubicBezTo>
                  <a:cubicBezTo>
                    <a:pt x="45625" y="207300"/>
                    <a:pt x="131445" y="250258"/>
                    <a:pt x="232410" y="252639"/>
                  </a:cubicBezTo>
                  <a:cubicBezTo>
                    <a:pt x="235363" y="252639"/>
                    <a:pt x="238220" y="252734"/>
                    <a:pt x="241173" y="252734"/>
                  </a:cubicBezTo>
                  <a:cubicBezTo>
                    <a:pt x="344138" y="252734"/>
                    <a:pt x="437293" y="209395"/>
                    <a:pt x="485775" y="138529"/>
                  </a:cubicBezTo>
                  <a:close/>
                  <a:moveTo>
                    <a:pt x="233267" y="214444"/>
                  </a:moveTo>
                  <a:cubicBezTo>
                    <a:pt x="149733" y="212443"/>
                    <a:pt x="78677" y="179677"/>
                    <a:pt x="40957" y="126337"/>
                  </a:cubicBezTo>
                  <a:cubicBezTo>
                    <a:pt x="78772" y="72902"/>
                    <a:pt x="149924" y="40231"/>
                    <a:pt x="233839" y="38231"/>
                  </a:cubicBezTo>
                  <a:cubicBezTo>
                    <a:pt x="322517" y="36040"/>
                    <a:pt x="403384" y="69283"/>
                    <a:pt x="447961" y="125480"/>
                  </a:cubicBezTo>
                  <a:cubicBezTo>
                    <a:pt x="403670" y="182725"/>
                    <a:pt x="322421" y="216444"/>
                    <a:pt x="233267" y="214444"/>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90" name="Google Shape;390;p43"/>
            <p:cNvSpPr/>
            <p:nvPr/>
          </p:nvSpPr>
          <p:spPr>
            <a:xfrm>
              <a:off x="2733377" y="2915582"/>
              <a:ext cx="120967" cy="120967"/>
            </a:xfrm>
            <a:custGeom>
              <a:avLst/>
              <a:gdLst/>
              <a:ahLst/>
              <a:cxnLst/>
              <a:rect l="l" t="t" r="r" b="b"/>
              <a:pathLst>
                <a:path w="120967" h="120967" extrusionOk="0">
                  <a:moveTo>
                    <a:pt x="60484" y="0"/>
                  </a:moveTo>
                  <a:cubicBezTo>
                    <a:pt x="27146" y="0"/>
                    <a:pt x="0" y="27146"/>
                    <a:pt x="0" y="60484"/>
                  </a:cubicBezTo>
                  <a:cubicBezTo>
                    <a:pt x="0" y="93821"/>
                    <a:pt x="27146" y="120968"/>
                    <a:pt x="60484" y="120968"/>
                  </a:cubicBezTo>
                  <a:cubicBezTo>
                    <a:pt x="93821" y="120968"/>
                    <a:pt x="120967" y="93821"/>
                    <a:pt x="120967" y="60484"/>
                  </a:cubicBezTo>
                  <a:cubicBezTo>
                    <a:pt x="120967" y="27146"/>
                    <a:pt x="93821" y="0"/>
                    <a:pt x="60484" y="0"/>
                  </a:cubicBezTo>
                  <a:close/>
                  <a:moveTo>
                    <a:pt x="60484" y="82868"/>
                  </a:moveTo>
                  <a:cubicBezTo>
                    <a:pt x="48101" y="82868"/>
                    <a:pt x="38100" y="72866"/>
                    <a:pt x="38100" y="60484"/>
                  </a:cubicBezTo>
                  <a:cubicBezTo>
                    <a:pt x="38100" y="48101"/>
                    <a:pt x="48101" y="38100"/>
                    <a:pt x="60484" y="38100"/>
                  </a:cubicBezTo>
                  <a:cubicBezTo>
                    <a:pt x="72866" y="38100"/>
                    <a:pt x="82867" y="48101"/>
                    <a:pt x="82867" y="60484"/>
                  </a:cubicBezTo>
                  <a:cubicBezTo>
                    <a:pt x="82867" y="72866"/>
                    <a:pt x="72866" y="82868"/>
                    <a:pt x="60484" y="82868"/>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grpSp>
      <p:grpSp>
        <p:nvGrpSpPr>
          <p:cNvPr id="391" name="Google Shape;391;p43"/>
          <p:cNvGrpSpPr/>
          <p:nvPr/>
        </p:nvGrpSpPr>
        <p:grpSpPr>
          <a:xfrm>
            <a:off x="8772352" y="5206189"/>
            <a:ext cx="636746" cy="731422"/>
            <a:chOff x="3628580" y="2755899"/>
            <a:chExt cx="464439" cy="533495"/>
          </a:xfrm>
        </p:grpSpPr>
        <p:sp>
          <p:nvSpPr>
            <p:cNvPr id="392" name="Google Shape;392;p43"/>
            <p:cNvSpPr/>
            <p:nvPr/>
          </p:nvSpPr>
          <p:spPr>
            <a:xfrm>
              <a:off x="3628580" y="2755899"/>
              <a:ext cx="464439" cy="533495"/>
            </a:xfrm>
            <a:custGeom>
              <a:avLst/>
              <a:gdLst/>
              <a:ahLst/>
              <a:cxnLst/>
              <a:rect l="l" t="t" r="r" b="b"/>
              <a:pathLst>
                <a:path w="464439" h="533495" extrusionOk="0">
                  <a:moveTo>
                    <a:pt x="268415" y="0"/>
                  </a:moveTo>
                  <a:lnTo>
                    <a:pt x="195834" y="0"/>
                  </a:lnTo>
                  <a:cubicBezTo>
                    <a:pt x="127063" y="95"/>
                    <a:pt x="71342" y="55817"/>
                    <a:pt x="71342" y="124587"/>
                  </a:cubicBezTo>
                  <a:lnTo>
                    <a:pt x="71342" y="215837"/>
                  </a:lnTo>
                  <a:lnTo>
                    <a:pt x="69628" y="215837"/>
                  </a:lnTo>
                  <a:cubicBezTo>
                    <a:pt x="31147" y="215932"/>
                    <a:pt x="0" y="247174"/>
                    <a:pt x="0" y="285750"/>
                  </a:cubicBezTo>
                  <a:lnTo>
                    <a:pt x="0" y="463582"/>
                  </a:lnTo>
                  <a:cubicBezTo>
                    <a:pt x="0" y="502063"/>
                    <a:pt x="31147" y="533305"/>
                    <a:pt x="69628" y="533495"/>
                  </a:cubicBezTo>
                  <a:lnTo>
                    <a:pt x="395669" y="533495"/>
                  </a:lnTo>
                  <a:cubicBezTo>
                    <a:pt x="433864" y="532924"/>
                    <a:pt x="464439" y="501777"/>
                    <a:pt x="464439" y="463582"/>
                  </a:cubicBezTo>
                  <a:lnTo>
                    <a:pt x="464439" y="285655"/>
                  </a:lnTo>
                  <a:cubicBezTo>
                    <a:pt x="464439" y="247460"/>
                    <a:pt x="433769" y="216408"/>
                    <a:pt x="395669" y="215741"/>
                  </a:cubicBezTo>
                  <a:lnTo>
                    <a:pt x="393954" y="215741"/>
                  </a:lnTo>
                  <a:lnTo>
                    <a:pt x="393954" y="124587"/>
                  </a:lnTo>
                  <a:cubicBezTo>
                    <a:pt x="393764" y="55721"/>
                    <a:pt x="337852" y="-95"/>
                    <a:pt x="268986" y="0"/>
                  </a:cubicBezTo>
                  <a:lnTo>
                    <a:pt x="268415" y="0"/>
                  </a:lnTo>
                  <a:close/>
                  <a:moveTo>
                    <a:pt x="113633" y="124587"/>
                  </a:moveTo>
                  <a:cubicBezTo>
                    <a:pt x="113633" y="78772"/>
                    <a:pt x="150781" y="41624"/>
                    <a:pt x="196596" y="41624"/>
                  </a:cubicBezTo>
                  <a:lnTo>
                    <a:pt x="269177" y="41624"/>
                  </a:lnTo>
                  <a:cubicBezTo>
                    <a:pt x="314992" y="41624"/>
                    <a:pt x="352139" y="78772"/>
                    <a:pt x="352139" y="124587"/>
                  </a:cubicBezTo>
                  <a:lnTo>
                    <a:pt x="352139" y="215837"/>
                  </a:lnTo>
                  <a:lnTo>
                    <a:pt x="112967" y="215837"/>
                  </a:lnTo>
                  <a:lnTo>
                    <a:pt x="113633" y="124587"/>
                  </a:lnTo>
                  <a:close/>
                  <a:moveTo>
                    <a:pt x="395573" y="258128"/>
                  </a:moveTo>
                  <a:cubicBezTo>
                    <a:pt x="411194" y="258128"/>
                    <a:pt x="423767" y="270796"/>
                    <a:pt x="423767" y="286322"/>
                  </a:cubicBezTo>
                  <a:lnTo>
                    <a:pt x="423767" y="463582"/>
                  </a:lnTo>
                  <a:cubicBezTo>
                    <a:pt x="423767" y="479203"/>
                    <a:pt x="411099" y="491776"/>
                    <a:pt x="395573" y="491776"/>
                  </a:cubicBezTo>
                  <a:lnTo>
                    <a:pt x="69533" y="491776"/>
                  </a:lnTo>
                  <a:cubicBezTo>
                    <a:pt x="53912" y="491776"/>
                    <a:pt x="41339" y="479108"/>
                    <a:pt x="41339" y="463582"/>
                  </a:cubicBezTo>
                  <a:lnTo>
                    <a:pt x="41339" y="285655"/>
                  </a:lnTo>
                  <a:cubicBezTo>
                    <a:pt x="41720" y="270320"/>
                    <a:pt x="54293" y="258128"/>
                    <a:pt x="69533" y="258128"/>
                  </a:cubicBezTo>
                  <a:lnTo>
                    <a:pt x="395573" y="258128"/>
                  </a:lnTo>
                  <a:close/>
                </a:path>
              </a:pathLst>
            </a:custGeom>
            <a:solidFill>
              <a:schemeClr val="lt1"/>
            </a:solidFill>
            <a:ln>
              <a:noFill/>
            </a:ln>
          </p:spPr>
          <p:txBody>
            <a:bodyPr spcFirstLastPara="1" wrap="square" lIns="167150" tIns="83550" rIns="167150" bIns="83550" anchor="t" anchorCtr="0">
              <a:noAutofit/>
            </a:bodyPr>
            <a:lstStyle/>
            <a:p>
              <a:pPr marL="0" marR="0" lvl="0" indent="0" algn="l" rtl="0">
                <a:spcBef>
                  <a:spcPts val="0"/>
                </a:spcBef>
                <a:spcAft>
                  <a:spcPts val="0"/>
                </a:spcAft>
                <a:buNone/>
              </a:pPr>
              <a:endParaRPr sz="3412">
                <a:solidFill>
                  <a:srgbClr val="252525"/>
                </a:solidFill>
                <a:latin typeface="Arial"/>
                <a:ea typeface="Arial"/>
                <a:cs typeface="Arial"/>
                <a:sym typeface="Arial"/>
              </a:endParaRPr>
            </a:p>
          </p:txBody>
        </p:sp>
        <p:sp>
          <p:nvSpPr>
            <p:cNvPr id="393" name="Google Shape;393;p43"/>
            <p:cNvSpPr/>
            <p:nvPr/>
          </p:nvSpPr>
          <p:spPr>
            <a:xfrm>
              <a:off x="3811936" y="3063365"/>
              <a:ext cx="94773" cy="134208"/>
            </a:xfrm>
            <a:custGeom>
              <a:avLst/>
              <a:gdLst/>
              <a:ahLst/>
              <a:cxnLst/>
              <a:rect l="l" t="t" r="r" b="b"/>
              <a:pathLst>
                <a:path w="94773" h="134208" extrusionOk="0">
                  <a:moveTo>
                    <a:pt x="47434" y="134209"/>
                  </a:moveTo>
                  <a:cubicBezTo>
                    <a:pt x="73438" y="133828"/>
                    <a:pt x="94393" y="112873"/>
                    <a:pt x="94774" y="86869"/>
                  </a:cubicBezTo>
                  <a:lnTo>
                    <a:pt x="94774" y="47341"/>
                  </a:lnTo>
                  <a:cubicBezTo>
                    <a:pt x="94583" y="21337"/>
                    <a:pt x="73533" y="192"/>
                    <a:pt x="47434" y="1"/>
                  </a:cubicBezTo>
                  <a:cubicBezTo>
                    <a:pt x="21431" y="-189"/>
                    <a:pt x="190" y="20671"/>
                    <a:pt x="0" y="46579"/>
                  </a:cubicBezTo>
                  <a:lnTo>
                    <a:pt x="0" y="86869"/>
                  </a:lnTo>
                  <a:cubicBezTo>
                    <a:pt x="0" y="112968"/>
                    <a:pt x="21145" y="134209"/>
                    <a:pt x="47339" y="134209"/>
                  </a:cubicBezTo>
                  <a:lnTo>
                    <a:pt x="47530" y="134209"/>
                  </a:lnTo>
                  <a:close/>
                  <a:moveTo>
                    <a:pt x="33147" y="47341"/>
                  </a:moveTo>
                  <a:cubicBezTo>
                    <a:pt x="33433" y="39816"/>
                    <a:pt x="39529" y="33815"/>
                    <a:pt x="47053" y="33720"/>
                  </a:cubicBezTo>
                  <a:cubicBezTo>
                    <a:pt x="54769" y="33910"/>
                    <a:pt x="60960" y="40102"/>
                    <a:pt x="61151" y="47817"/>
                  </a:cubicBezTo>
                  <a:lnTo>
                    <a:pt x="61151" y="87250"/>
                  </a:lnTo>
                  <a:cubicBezTo>
                    <a:pt x="60960" y="94966"/>
                    <a:pt x="54769" y="101252"/>
                    <a:pt x="47053" y="101538"/>
                  </a:cubicBezTo>
                  <a:cubicBezTo>
                    <a:pt x="39243" y="101538"/>
                    <a:pt x="32956" y="95251"/>
                    <a:pt x="32956" y="87441"/>
                  </a:cubicBezTo>
                  <a:lnTo>
                    <a:pt x="33147" y="47341"/>
                  </a:lnTo>
                  <a:lnTo>
                    <a:pt x="33147" y="47341"/>
                  </a:lnTo>
                  <a:close/>
                </a:path>
              </a:pathLst>
            </a:custGeom>
            <a:solidFill>
              <a:schemeClr val="lt1"/>
            </a:solidFill>
            <a:ln>
              <a:noFill/>
            </a:ln>
          </p:spPr>
          <p:txBody>
            <a:bodyPr spcFirstLastPara="1" wrap="square" lIns="167150" tIns="83550" rIns="167150" bIns="83550" anchor="t" anchorCtr="0">
              <a:noAutofit/>
            </a:bodyPr>
            <a:lstStyle/>
            <a:p>
              <a:pPr marL="0" marR="0" lvl="0" indent="0" algn="l" rtl="0">
                <a:spcBef>
                  <a:spcPts val="0"/>
                </a:spcBef>
                <a:spcAft>
                  <a:spcPts val="0"/>
                </a:spcAft>
                <a:buNone/>
              </a:pPr>
              <a:endParaRPr sz="3412">
                <a:solidFill>
                  <a:srgbClr val="252525"/>
                </a:solidFill>
                <a:latin typeface="Arial"/>
                <a:ea typeface="Arial"/>
                <a:cs typeface="Arial"/>
                <a:sym typeface="Arial"/>
              </a:endParaRPr>
            </a:p>
          </p:txBody>
        </p:sp>
      </p:grpSp>
      <p:sp>
        <p:nvSpPr>
          <p:cNvPr id="394" name="Google Shape;394;p43"/>
          <p:cNvSpPr/>
          <p:nvPr/>
        </p:nvSpPr>
        <p:spPr>
          <a:xfrm>
            <a:off x="3101017" y="5181115"/>
            <a:ext cx="770266" cy="781570"/>
          </a:xfrm>
          <a:custGeom>
            <a:avLst/>
            <a:gdLst/>
            <a:ahLst/>
            <a:cxnLst/>
            <a:rect l="l" t="t" r="r" b="b"/>
            <a:pathLst>
              <a:path w="525779" h="533495" extrusionOk="0">
                <a:moveTo>
                  <a:pt x="211455" y="0"/>
                </a:moveTo>
                <a:cubicBezTo>
                  <a:pt x="106394" y="0"/>
                  <a:pt x="0" y="31814"/>
                  <a:pt x="0" y="92678"/>
                </a:cubicBezTo>
                <a:lnTo>
                  <a:pt x="0" y="394049"/>
                </a:lnTo>
                <a:cubicBezTo>
                  <a:pt x="0" y="454819"/>
                  <a:pt x="106394" y="486632"/>
                  <a:pt x="211455" y="486632"/>
                </a:cubicBezTo>
                <a:cubicBezTo>
                  <a:pt x="238125" y="486632"/>
                  <a:pt x="264605" y="484346"/>
                  <a:pt x="289751" y="480251"/>
                </a:cubicBezTo>
                <a:cubicBezTo>
                  <a:pt x="289941" y="480251"/>
                  <a:pt x="290132" y="480346"/>
                  <a:pt x="290417" y="480346"/>
                </a:cubicBezTo>
                <a:cubicBezTo>
                  <a:pt x="291465" y="480346"/>
                  <a:pt x="292418" y="479870"/>
                  <a:pt x="293465" y="479774"/>
                </a:cubicBezTo>
                <a:cubicBezTo>
                  <a:pt x="294989" y="479489"/>
                  <a:pt x="296513" y="479393"/>
                  <a:pt x="297847" y="478822"/>
                </a:cubicBezTo>
                <a:cubicBezTo>
                  <a:pt x="304419" y="475964"/>
                  <a:pt x="309086" y="469392"/>
                  <a:pt x="309086" y="461772"/>
                </a:cubicBezTo>
                <a:cubicBezTo>
                  <a:pt x="309086" y="461105"/>
                  <a:pt x="309086" y="460343"/>
                  <a:pt x="309086" y="459677"/>
                </a:cubicBezTo>
                <a:cubicBezTo>
                  <a:pt x="308039" y="450342"/>
                  <a:pt x="300038" y="443103"/>
                  <a:pt x="290417" y="443103"/>
                </a:cubicBezTo>
                <a:cubicBezTo>
                  <a:pt x="290036" y="443103"/>
                  <a:pt x="289560" y="443103"/>
                  <a:pt x="289179" y="443198"/>
                </a:cubicBezTo>
                <a:cubicBezTo>
                  <a:pt x="289179" y="443198"/>
                  <a:pt x="289274" y="443198"/>
                  <a:pt x="289370" y="443198"/>
                </a:cubicBezTo>
                <a:cubicBezTo>
                  <a:pt x="289370" y="443198"/>
                  <a:pt x="289084" y="443198"/>
                  <a:pt x="288608" y="443294"/>
                </a:cubicBezTo>
                <a:cubicBezTo>
                  <a:pt x="288322" y="443294"/>
                  <a:pt x="288036" y="443294"/>
                  <a:pt x="287655" y="443389"/>
                </a:cubicBezTo>
                <a:cubicBezTo>
                  <a:pt x="286798" y="443484"/>
                  <a:pt x="285560" y="443675"/>
                  <a:pt x="284131" y="443865"/>
                </a:cubicBezTo>
                <a:cubicBezTo>
                  <a:pt x="274701" y="445008"/>
                  <a:pt x="254222" y="447294"/>
                  <a:pt x="234601" y="448628"/>
                </a:cubicBezTo>
                <a:cubicBezTo>
                  <a:pt x="230315" y="448818"/>
                  <a:pt x="226219" y="449199"/>
                  <a:pt x="221837" y="449294"/>
                </a:cubicBezTo>
                <a:cubicBezTo>
                  <a:pt x="218313" y="449390"/>
                  <a:pt x="214884" y="449485"/>
                  <a:pt x="211646" y="449485"/>
                </a:cubicBezTo>
                <a:cubicBezTo>
                  <a:pt x="105251" y="449485"/>
                  <a:pt x="37338" y="416624"/>
                  <a:pt x="37338" y="393954"/>
                </a:cubicBezTo>
                <a:lnTo>
                  <a:pt x="37338" y="348044"/>
                </a:lnTo>
                <a:cubicBezTo>
                  <a:pt x="77534" y="373094"/>
                  <a:pt x="144780" y="386048"/>
                  <a:pt x="211646" y="386048"/>
                </a:cubicBezTo>
                <a:cubicBezTo>
                  <a:pt x="250412" y="386048"/>
                  <a:pt x="286322" y="382524"/>
                  <a:pt x="320040" y="373952"/>
                </a:cubicBezTo>
                <a:cubicBezTo>
                  <a:pt x="320040" y="373952"/>
                  <a:pt x="318516" y="374237"/>
                  <a:pt x="317087" y="374428"/>
                </a:cubicBezTo>
                <a:cubicBezTo>
                  <a:pt x="316421" y="374428"/>
                  <a:pt x="315849" y="374618"/>
                  <a:pt x="315468" y="374618"/>
                </a:cubicBezTo>
                <a:cubicBezTo>
                  <a:pt x="320326" y="374618"/>
                  <a:pt x="324707" y="372618"/>
                  <a:pt x="328041" y="369570"/>
                </a:cubicBezTo>
                <a:cubicBezTo>
                  <a:pt x="331089" y="366808"/>
                  <a:pt x="332899" y="362998"/>
                  <a:pt x="333565" y="358712"/>
                </a:cubicBezTo>
                <a:cubicBezTo>
                  <a:pt x="333756" y="357759"/>
                  <a:pt x="333756" y="356902"/>
                  <a:pt x="333756" y="355949"/>
                </a:cubicBezTo>
                <a:cubicBezTo>
                  <a:pt x="333756" y="345662"/>
                  <a:pt x="325755" y="337280"/>
                  <a:pt x="315468" y="337280"/>
                </a:cubicBezTo>
                <a:lnTo>
                  <a:pt x="310039" y="338233"/>
                </a:lnTo>
                <a:lnTo>
                  <a:pt x="309277" y="338233"/>
                </a:lnTo>
                <a:cubicBezTo>
                  <a:pt x="281654" y="345472"/>
                  <a:pt x="252032" y="348901"/>
                  <a:pt x="211741" y="348901"/>
                </a:cubicBezTo>
                <a:cubicBezTo>
                  <a:pt x="105347" y="348901"/>
                  <a:pt x="37433" y="316040"/>
                  <a:pt x="37433" y="293370"/>
                </a:cubicBezTo>
                <a:lnTo>
                  <a:pt x="37433" y="247745"/>
                </a:lnTo>
                <a:cubicBezTo>
                  <a:pt x="77629" y="272796"/>
                  <a:pt x="144875" y="285750"/>
                  <a:pt x="211741" y="285750"/>
                </a:cubicBezTo>
                <a:cubicBezTo>
                  <a:pt x="278606" y="285750"/>
                  <a:pt x="345948" y="272796"/>
                  <a:pt x="386048" y="247745"/>
                </a:cubicBezTo>
                <a:lnTo>
                  <a:pt x="386048" y="255175"/>
                </a:lnTo>
                <a:cubicBezTo>
                  <a:pt x="386048" y="265462"/>
                  <a:pt x="394430" y="273844"/>
                  <a:pt x="404717" y="273844"/>
                </a:cubicBezTo>
                <a:cubicBezTo>
                  <a:pt x="409765" y="273844"/>
                  <a:pt x="414338" y="271748"/>
                  <a:pt x="417766" y="268510"/>
                </a:cubicBezTo>
                <a:cubicBezTo>
                  <a:pt x="419957" y="266319"/>
                  <a:pt x="421386" y="263557"/>
                  <a:pt x="422339" y="260509"/>
                </a:cubicBezTo>
                <a:cubicBezTo>
                  <a:pt x="422815" y="259080"/>
                  <a:pt x="423196" y="257651"/>
                  <a:pt x="423196" y="256032"/>
                </a:cubicBezTo>
                <a:lnTo>
                  <a:pt x="423196" y="92678"/>
                </a:lnTo>
                <a:cubicBezTo>
                  <a:pt x="423196" y="31814"/>
                  <a:pt x="316802" y="0"/>
                  <a:pt x="211741" y="0"/>
                </a:cubicBezTo>
                <a:close/>
                <a:moveTo>
                  <a:pt x="385763" y="193262"/>
                </a:moveTo>
                <a:cubicBezTo>
                  <a:pt x="385763" y="215932"/>
                  <a:pt x="317849" y="248793"/>
                  <a:pt x="211455" y="248793"/>
                </a:cubicBezTo>
                <a:cubicBezTo>
                  <a:pt x="105061" y="248793"/>
                  <a:pt x="37148" y="215932"/>
                  <a:pt x="37148" y="193262"/>
                </a:cubicBezTo>
                <a:lnTo>
                  <a:pt x="37148" y="147352"/>
                </a:lnTo>
                <a:cubicBezTo>
                  <a:pt x="77343" y="172403"/>
                  <a:pt x="144590" y="185357"/>
                  <a:pt x="211455" y="185357"/>
                </a:cubicBezTo>
                <a:cubicBezTo>
                  <a:pt x="278321" y="185357"/>
                  <a:pt x="345662" y="172403"/>
                  <a:pt x="385763" y="147352"/>
                </a:cubicBezTo>
                <a:lnTo>
                  <a:pt x="385763" y="193262"/>
                </a:lnTo>
                <a:close/>
                <a:moveTo>
                  <a:pt x="211455" y="148114"/>
                </a:moveTo>
                <a:cubicBezTo>
                  <a:pt x="105061" y="148114"/>
                  <a:pt x="37148" y="115253"/>
                  <a:pt x="37148" y="92583"/>
                </a:cubicBezTo>
                <a:cubicBezTo>
                  <a:pt x="37148" y="69914"/>
                  <a:pt x="105061" y="37052"/>
                  <a:pt x="211455" y="37052"/>
                </a:cubicBezTo>
                <a:cubicBezTo>
                  <a:pt x="317849" y="37052"/>
                  <a:pt x="385763" y="69914"/>
                  <a:pt x="385763" y="92583"/>
                </a:cubicBezTo>
                <a:cubicBezTo>
                  <a:pt x="385763" y="115253"/>
                  <a:pt x="317849" y="148114"/>
                  <a:pt x="211455" y="148114"/>
                </a:cubicBezTo>
                <a:close/>
                <a:moveTo>
                  <a:pt x="499015" y="384239"/>
                </a:moveTo>
                <a:lnTo>
                  <a:pt x="499015" y="359759"/>
                </a:lnTo>
                <a:cubicBezTo>
                  <a:pt x="499015" y="323374"/>
                  <a:pt x="468535" y="293751"/>
                  <a:pt x="431197" y="293751"/>
                </a:cubicBezTo>
                <a:lnTo>
                  <a:pt x="421100" y="293751"/>
                </a:lnTo>
                <a:cubicBezTo>
                  <a:pt x="383477" y="293751"/>
                  <a:pt x="352901" y="323374"/>
                  <a:pt x="352901" y="359759"/>
                </a:cubicBezTo>
                <a:lnTo>
                  <a:pt x="352901" y="384239"/>
                </a:lnTo>
                <a:cubicBezTo>
                  <a:pt x="337185" y="390906"/>
                  <a:pt x="326136" y="406241"/>
                  <a:pt x="326136" y="423958"/>
                </a:cubicBezTo>
                <a:lnTo>
                  <a:pt x="326136" y="490157"/>
                </a:lnTo>
                <a:cubicBezTo>
                  <a:pt x="326136" y="514064"/>
                  <a:pt x="346043" y="533495"/>
                  <a:pt x="370618" y="533495"/>
                </a:cubicBezTo>
                <a:lnTo>
                  <a:pt x="481298" y="533495"/>
                </a:lnTo>
                <a:cubicBezTo>
                  <a:pt x="505778" y="533495"/>
                  <a:pt x="525780" y="514064"/>
                  <a:pt x="525780" y="490157"/>
                </a:cubicBezTo>
                <a:lnTo>
                  <a:pt x="525780" y="423958"/>
                </a:lnTo>
                <a:cubicBezTo>
                  <a:pt x="525780" y="406241"/>
                  <a:pt x="514731" y="390906"/>
                  <a:pt x="499015" y="384239"/>
                </a:cubicBezTo>
                <a:close/>
                <a:moveTo>
                  <a:pt x="385477" y="359759"/>
                </a:moveTo>
                <a:cubicBezTo>
                  <a:pt x="385477" y="341281"/>
                  <a:pt x="401479" y="326231"/>
                  <a:pt x="421196" y="326231"/>
                </a:cubicBezTo>
                <a:lnTo>
                  <a:pt x="431292" y="326231"/>
                </a:lnTo>
                <a:cubicBezTo>
                  <a:pt x="450818" y="326231"/>
                  <a:pt x="466630" y="341281"/>
                  <a:pt x="466630" y="359759"/>
                </a:cubicBezTo>
                <a:lnTo>
                  <a:pt x="466630" y="380619"/>
                </a:lnTo>
                <a:lnTo>
                  <a:pt x="385477" y="380619"/>
                </a:lnTo>
                <a:lnTo>
                  <a:pt x="385477" y="359759"/>
                </a:lnTo>
                <a:close/>
                <a:moveTo>
                  <a:pt x="493300" y="490157"/>
                </a:moveTo>
                <a:cubicBezTo>
                  <a:pt x="493300" y="496157"/>
                  <a:pt x="487966" y="501015"/>
                  <a:pt x="481298" y="501015"/>
                </a:cubicBezTo>
                <a:lnTo>
                  <a:pt x="370618" y="501015"/>
                </a:lnTo>
                <a:cubicBezTo>
                  <a:pt x="364046" y="501015"/>
                  <a:pt x="358616" y="496157"/>
                  <a:pt x="358616" y="490157"/>
                </a:cubicBezTo>
                <a:lnTo>
                  <a:pt x="358616" y="423958"/>
                </a:lnTo>
                <a:cubicBezTo>
                  <a:pt x="358616" y="417862"/>
                  <a:pt x="363855" y="413099"/>
                  <a:pt x="370618" y="413099"/>
                </a:cubicBezTo>
                <a:lnTo>
                  <a:pt x="481298" y="413099"/>
                </a:lnTo>
                <a:cubicBezTo>
                  <a:pt x="487966" y="413099"/>
                  <a:pt x="493300" y="417862"/>
                  <a:pt x="493300" y="423958"/>
                </a:cubicBezTo>
                <a:lnTo>
                  <a:pt x="493300" y="490157"/>
                </a:lnTo>
                <a:close/>
                <a:moveTo>
                  <a:pt x="426149" y="421005"/>
                </a:moveTo>
                <a:cubicBezTo>
                  <a:pt x="412718" y="421005"/>
                  <a:pt x="399669" y="431197"/>
                  <a:pt x="399669" y="444246"/>
                </a:cubicBezTo>
                <a:lnTo>
                  <a:pt x="399669" y="469773"/>
                </a:lnTo>
                <a:cubicBezTo>
                  <a:pt x="399669" y="482537"/>
                  <a:pt x="412909" y="493014"/>
                  <a:pt x="426149" y="493014"/>
                </a:cubicBezTo>
                <a:cubicBezTo>
                  <a:pt x="439388" y="493014"/>
                  <a:pt x="452628" y="482346"/>
                  <a:pt x="452628" y="469773"/>
                </a:cubicBezTo>
                <a:lnTo>
                  <a:pt x="452628" y="444246"/>
                </a:lnTo>
                <a:cubicBezTo>
                  <a:pt x="452628" y="431483"/>
                  <a:pt x="439388" y="421005"/>
                  <a:pt x="426149" y="421005"/>
                </a:cubicBezTo>
                <a:close/>
                <a:moveTo>
                  <a:pt x="430911" y="464534"/>
                </a:moveTo>
                <a:cubicBezTo>
                  <a:pt x="430911" y="465106"/>
                  <a:pt x="430911" y="468821"/>
                  <a:pt x="426053" y="468821"/>
                </a:cubicBezTo>
                <a:cubicBezTo>
                  <a:pt x="421196" y="468821"/>
                  <a:pt x="421196" y="465296"/>
                  <a:pt x="421196" y="464534"/>
                </a:cubicBezTo>
                <a:lnTo>
                  <a:pt x="421196" y="449485"/>
                </a:lnTo>
                <a:cubicBezTo>
                  <a:pt x="421196" y="448151"/>
                  <a:pt x="421196" y="445199"/>
                  <a:pt x="426053" y="445199"/>
                </a:cubicBezTo>
                <a:cubicBezTo>
                  <a:pt x="430911" y="445199"/>
                  <a:pt x="430911" y="448532"/>
                  <a:pt x="430911" y="449485"/>
                </a:cubicBezTo>
                <a:lnTo>
                  <a:pt x="430911" y="464534"/>
                </a:lnTo>
                <a:close/>
              </a:path>
            </a:pathLst>
          </a:custGeom>
          <a:solidFill>
            <a:schemeClr val="lt1"/>
          </a:solidFill>
          <a:ln>
            <a:noFill/>
          </a:ln>
        </p:spPr>
        <p:txBody>
          <a:bodyPr spcFirstLastPara="1" wrap="square" lIns="137150" tIns="68550" rIns="137150" bIns="68550" anchor="t" anchorCtr="0">
            <a:noAutofit/>
          </a:bodyPr>
          <a:lstStyle/>
          <a:p>
            <a:pPr marL="0" marR="0" lvl="0" indent="0" algn="l" rtl="0">
              <a:spcBef>
                <a:spcPts val="0"/>
              </a:spcBef>
              <a:spcAft>
                <a:spcPts val="0"/>
              </a:spcAft>
              <a:buNone/>
            </a:pPr>
            <a:endParaRPr sz="2800">
              <a:solidFill>
                <a:srgbClr val="252525"/>
              </a:solidFill>
              <a:latin typeface="Arial"/>
              <a:ea typeface="Arial"/>
              <a:cs typeface="Arial"/>
              <a:sym typeface="Arial"/>
            </a:endParaRPr>
          </a:p>
        </p:txBody>
      </p:sp>
      <p:sp>
        <p:nvSpPr>
          <p:cNvPr id="395" name="Google Shape;395;p43"/>
          <p:cNvSpPr txBox="1"/>
          <p:nvPr/>
        </p:nvSpPr>
        <p:spPr>
          <a:xfrm>
            <a:off x="1200150" y="2933700"/>
            <a:ext cx="4572000" cy="133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200" b="1">
                <a:solidFill>
                  <a:srgbClr val="FFFFFF"/>
                </a:solidFill>
                <a:latin typeface="Inter"/>
                <a:ea typeface="Inter"/>
                <a:cs typeface="Inter"/>
                <a:sym typeface="Inter"/>
              </a:rPr>
              <a:t>Identity and</a:t>
            </a:r>
            <a:br>
              <a:rPr lang="en-US" sz="3200" b="1">
                <a:solidFill>
                  <a:srgbClr val="FFFFFF"/>
                </a:solidFill>
                <a:latin typeface="Inter"/>
                <a:ea typeface="Inter"/>
                <a:cs typeface="Inter"/>
                <a:sym typeface="Inter"/>
              </a:rPr>
            </a:br>
            <a:r>
              <a:rPr lang="en-US" sz="3200" b="1">
                <a:solidFill>
                  <a:srgbClr val="FFFFFF"/>
                </a:solidFill>
                <a:latin typeface="Inter"/>
                <a:ea typeface="Inter"/>
                <a:cs typeface="Inter"/>
                <a:sym typeface="Inter"/>
              </a:rPr>
              <a:t>Access Control </a:t>
            </a:r>
            <a:endParaRPr sz="3200" b="1">
              <a:solidFill>
                <a:srgbClr val="FFFFFF"/>
              </a:solidFill>
              <a:latin typeface="Inter"/>
              <a:ea typeface="Inter"/>
              <a:cs typeface="Inter"/>
              <a:sym typeface="Inter"/>
            </a:endParaRPr>
          </a:p>
        </p:txBody>
      </p:sp>
      <p:sp>
        <p:nvSpPr>
          <p:cNvPr id="396" name="Google Shape;396;p43"/>
          <p:cNvSpPr txBox="1"/>
          <p:nvPr/>
        </p:nvSpPr>
        <p:spPr>
          <a:xfrm>
            <a:off x="6896100" y="2933700"/>
            <a:ext cx="4572000" cy="13335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3200" b="1">
                <a:solidFill>
                  <a:srgbClr val="FFFFFF"/>
                </a:solidFill>
                <a:latin typeface="Inter"/>
                <a:ea typeface="Inter"/>
                <a:cs typeface="Inter"/>
                <a:sym typeface="Inter"/>
              </a:rPr>
              <a:t>Data Exfiltration and Unauthorized Data Movement</a:t>
            </a:r>
            <a:endParaRPr sz="3200" b="1">
              <a:solidFill>
                <a:srgbClr val="FFFFFF"/>
              </a:solidFill>
              <a:latin typeface="Inter"/>
              <a:ea typeface="Inter"/>
              <a:cs typeface="Inter"/>
              <a:sym typeface="Inter"/>
            </a:endParaRPr>
          </a:p>
        </p:txBody>
      </p:sp>
      <p:sp>
        <p:nvSpPr>
          <p:cNvPr id="397" name="Google Shape;397;p43"/>
          <p:cNvSpPr txBox="1"/>
          <p:nvPr/>
        </p:nvSpPr>
        <p:spPr>
          <a:xfrm>
            <a:off x="12592050" y="2933700"/>
            <a:ext cx="4572000" cy="13335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3200" b="1">
                <a:solidFill>
                  <a:srgbClr val="FFFFFF"/>
                </a:solidFill>
                <a:latin typeface="Inter"/>
                <a:ea typeface="Inter"/>
                <a:cs typeface="Inter"/>
                <a:sym typeface="Inter"/>
              </a:rPr>
              <a:t>Centralized Visibility</a:t>
            </a:r>
            <a:endParaRPr sz="3200" b="1">
              <a:solidFill>
                <a:srgbClr val="FFFFFF"/>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4"/>
          <p:cNvSpPr/>
          <p:nvPr/>
        </p:nvSpPr>
        <p:spPr>
          <a:xfrm>
            <a:off x="1196681" y="2555219"/>
            <a:ext cx="15845400" cy="6756000"/>
          </a:xfrm>
          <a:prstGeom prst="roundRect">
            <a:avLst>
              <a:gd name="adj" fmla="val 3896"/>
            </a:avLst>
          </a:prstGeom>
          <a:solidFill>
            <a:schemeClr val="lt2"/>
          </a:solidFill>
          <a:ln w="36525" cap="flat" cmpd="sng">
            <a:solidFill>
              <a:schemeClr val="accent1"/>
            </a:solidFill>
            <a:prstDash val="solid"/>
            <a:round/>
            <a:headEnd type="none" w="sm" len="sm"/>
            <a:tailEnd type="none" w="sm" len="sm"/>
          </a:ln>
        </p:spPr>
        <p:txBody>
          <a:bodyPr spcFirstLastPara="1" wrap="square" lIns="87675" tIns="87675" rIns="87675" bIns="87675" anchor="ctr" anchorCtr="0">
            <a:noAutofit/>
          </a:bodyPr>
          <a:lstStyle/>
          <a:p>
            <a:pPr marL="0" lvl="0" indent="0" algn="ctr" rtl="0">
              <a:spcBef>
                <a:spcPts val="0"/>
              </a:spcBef>
              <a:spcAft>
                <a:spcPts val="0"/>
              </a:spcAft>
              <a:buNone/>
            </a:pPr>
            <a:endParaRPr sz="1342"/>
          </a:p>
        </p:txBody>
      </p:sp>
      <p:sp>
        <p:nvSpPr>
          <p:cNvPr id="404" name="Google Shape;404;p44"/>
          <p:cNvSpPr/>
          <p:nvPr/>
        </p:nvSpPr>
        <p:spPr>
          <a:xfrm>
            <a:off x="2640438" y="5038699"/>
            <a:ext cx="3635100" cy="3260100"/>
          </a:xfrm>
          <a:prstGeom prst="roundRect">
            <a:avLst>
              <a:gd name="adj" fmla="val 6368"/>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05" name="Google Shape;405;p44"/>
          <p:cNvSpPr/>
          <p:nvPr/>
        </p:nvSpPr>
        <p:spPr>
          <a:xfrm>
            <a:off x="2640437" y="5038699"/>
            <a:ext cx="3635100" cy="3260100"/>
          </a:xfrm>
          <a:prstGeom prst="roundRect">
            <a:avLst>
              <a:gd name="adj" fmla="val 6368"/>
            </a:avLst>
          </a:prstGeom>
          <a:solidFill>
            <a:srgbClr val="7D44CF">
              <a:alpha val="21250"/>
            </a:srgbClr>
          </a:solidFill>
          <a:ln w="36525" cap="flat" cmpd="sng">
            <a:solidFill>
              <a:schemeClr val="accent5"/>
            </a:solidFill>
            <a:prstDash val="solid"/>
            <a:round/>
            <a:headEnd type="none" w="sm" len="sm"/>
            <a:tailEnd type="none" w="sm" len="sm"/>
          </a:ln>
          <a:effectLst>
            <a:outerShdw blurRad="602668" dist="18263" dir="5400000" algn="bl" rotWithShape="0">
              <a:srgbClr val="000000">
                <a:alpha val="20000"/>
              </a:srgbClr>
            </a:outerShdw>
          </a:effectLst>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06" name="Google Shape;406;p44"/>
          <p:cNvSpPr/>
          <p:nvPr/>
        </p:nvSpPr>
        <p:spPr>
          <a:xfrm>
            <a:off x="7334993" y="4976297"/>
            <a:ext cx="3635100" cy="3322800"/>
          </a:xfrm>
          <a:prstGeom prst="roundRect">
            <a:avLst>
              <a:gd name="adj" fmla="val 6368"/>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07" name="Google Shape;407;p44"/>
          <p:cNvSpPr/>
          <p:nvPr/>
        </p:nvSpPr>
        <p:spPr>
          <a:xfrm>
            <a:off x="16705843" y="8836821"/>
            <a:ext cx="667800" cy="667800"/>
          </a:xfrm>
          <a:prstGeom prst="ellipse">
            <a:avLst/>
          </a:prstGeom>
          <a:solidFill>
            <a:schemeClr val="lt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endParaRPr sz="1342"/>
          </a:p>
        </p:txBody>
      </p:sp>
      <p:sp>
        <p:nvSpPr>
          <p:cNvPr id="408" name="Google Shape;408;p44"/>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Security Investments at a Glance</a:t>
            </a:r>
            <a:endParaRPr/>
          </a:p>
        </p:txBody>
      </p:sp>
      <p:sp>
        <p:nvSpPr>
          <p:cNvPr id="409" name="Google Shape;409;p44"/>
          <p:cNvSpPr txBox="1">
            <a:spLocks noGrp="1"/>
          </p:cNvSpPr>
          <p:nvPr>
            <p:ph type="subTitle" idx="1"/>
          </p:nvPr>
        </p:nvSpPr>
        <p:spPr>
          <a:xfrm>
            <a:off x="731520" y="1311725"/>
            <a:ext cx="17769300" cy="7320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sz="3400"/>
              <a:t>Proactive enterprise-grade security capabilities for data and AI—built-in, not bolted on</a:t>
            </a:r>
            <a:endParaRPr sz="3400"/>
          </a:p>
          <a:p>
            <a:pPr marL="0" lvl="0" indent="0" algn="l" rtl="0">
              <a:spcBef>
                <a:spcPts val="0"/>
              </a:spcBef>
              <a:spcAft>
                <a:spcPts val="0"/>
              </a:spcAft>
              <a:buNone/>
            </a:pPr>
            <a:endParaRPr sz="3400"/>
          </a:p>
        </p:txBody>
      </p:sp>
      <p:sp>
        <p:nvSpPr>
          <p:cNvPr id="410" name="Google Shape;410;p44"/>
          <p:cNvSpPr/>
          <p:nvPr/>
        </p:nvSpPr>
        <p:spPr>
          <a:xfrm>
            <a:off x="8391303" y="2382730"/>
            <a:ext cx="1456500" cy="339300"/>
          </a:xfrm>
          <a:prstGeom prst="roundRect">
            <a:avLst>
              <a:gd name="adj" fmla="val 18690"/>
            </a:avLst>
          </a:prstGeom>
          <a:solidFill>
            <a:schemeClr val="lt1"/>
          </a:solidFill>
          <a:ln>
            <a:noFill/>
          </a:ln>
        </p:spPr>
        <p:txBody>
          <a:bodyPr spcFirstLastPara="1" wrap="square" lIns="0" tIns="175300" rIns="0" bIns="175300" anchor="ctr" anchorCtr="0">
            <a:noAutofit/>
          </a:bodyPr>
          <a:lstStyle/>
          <a:p>
            <a:pPr marL="0" marR="0" lvl="0" indent="0" algn="ctr" rtl="0">
              <a:lnSpc>
                <a:spcPct val="100000"/>
              </a:lnSpc>
              <a:spcBef>
                <a:spcPts val="0"/>
              </a:spcBef>
              <a:spcAft>
                <a:spcPts val="0"/>
              </a:spcAft>
              <a:buNone/>
            </a:pPr>
            <a:r>
              <a:rPr lang="en-US" sz="1534" b="1">
                <a:solidFill>
                  <a:schemeClr val="dk1"/>
                </a:solidFill>
              </a:rPr>
              <a:t>SNOWFLAKE  </a:t>
            </a:r>
            <a:endParaRPr sz="1534" b="1">
              <a:solidFill>
                <a:schemeClr val="dk1"/>
              </a:solidFill>
            </a:endParaRPr>
          </a:p>
        </p:txBody>
      </p:sp>
      <p:grpSp>
        <p:nvGrpSpPr>
          <p:cNvPr id="411" name="Google Shape;411;p44"/>
          <p:cNvGrpSpPr/>
          <p:nvPr/>
        </p:nvGrpSpPr>
        <p:grpSpPr>
          <a:xfrm>
            <a:off x="914249" y="2239257"/>
            <a:ext cx="636160" cy="636160"/>
            <a:chOff x="269700" y="1348625"/>
            <a:chExt cx="331800" cy="331800"/>
          </a:xfrm>
        </p:grpSpPr>
        <p:sp>
          <p:nvSpPr>
            <p:cNvPr id="412" name="Google Shape;412;p44"/>
            <p:cNvSpPr/>
            <p:nvPr/>
          </p:nvSpPr>
          <p:spPr>
            <a:xfrm>
              <a:off x="269700" y="1348625"/>
              <a:ext cx="331800" cy="331800"/>
            </a:xfrm>
            <a:prstGeom prst="ellipse">
              <a:avLst/>
            </a:prstGeom>
            <a:solidFill>
              <a:srgbClr val="FFFFFF"/>
            </a:solidFill>
            <a:ln>
              <a:noFill/>
            </a:ln>
          </p:spPr>
          <p:txBody>
            <a:bodyPr spcFirstLastPara="1" wrap="square" lIns="175300" tIns="175300" rIns="175300" bIns="175300" anchor="ctr" anchorCtr="0">
              <a:noAutofit/>
            </a:bodyPr>
            <a:lstStyle/>
            <a:p>
              <a:pPr marL="0" lvl="0" indent="0" algn="ctr" rtl="0">
                <a:spcBef>
                  <a:spcPts val="0"/>
                </a:spcBef>
                <a:spcAft>
                  <a:spcPts val="0"/>
                </a:spcAft>
                <a:buNone/>
              </a:pPr>
              <a:endParaRPr sz="2684"/>
            </a:p>
          </p:txBody>
        </p:sp>
        <p:sp>
          <p:nvSpPr>
            <p:cNvPr id="413" name="Google Shape;413;p44"/>
            <p:cNvSpPr/>
            <p:nvPr/>
          </p:nvSpPr>
          <p:spPr>
            <a:xfrm>
              <a:off x="328369" y="1406807"/>
              <a:ext cx="214514" cy="215505"/>
            </a:xfrm>
            <a:custGeom>
              <a:avLst/>
              <a:gdLst/>
              <a:ahLst/>
              <a:cxnLst/>
              <a:rect l="l" t="t" r="r" b="b"/>
              <a:pathLst>
                <a:path w="825052" h="828865" extrusionOk="0">
                  <a:moveTo>
                    <a:pt x="799179" y="357949"/>
                  </a:moveTo>
                  <a:lnTo>
                    <a:pt x="701516" y="414464"/>
                  </a:lnTo>
                  <a:lnTo>
                    <a:pt x="799179" y="470789"/>
                  </a:lnTo>
                  <a:cubicBezTo>
                    <a:pt x="823817" y="485077"/>
                    <a:pt x="832262" y="516446"/>
                    <a:pt x="818038" y="541147"/>
                  </a:cubicBezTo>
                  <a:cubicBezTo>
                    <a:pt x="803814" y="565721"/>
                    <a:pt x="772318" y="574103"/>
                    <a:pt x="747744" y="559943"/>
                  </a:cubicBezTo>
                  <a:lnTo>
                    <a:pt x="572865" y="458978"/>
                  </a:lnTo>
                  <a:cubicBezTo>
                    <a:pt x="561181" y="452184"/>
                    <a:pt x="553116" y="441579"/>
                    <a:pt x="549497" y="429578"/>
                  </a:cubicBezTo>
                  <a:cubicBezTo>
                    <a:pt x="547782" y="424053"/>
                    <a:pt x="547020" y="418402"/>
                    <a:pt x="547211" y="412813"/>
                  </a:cubicBezTo>
                  <a:cubicBezTo>
                    <a:pt x="547338" y="408749"/>
                    <a:pt x="547909" y="404685"/>
                    <a:pt x="549052" y="400685"/>
                  </a:cubicBezTo>
                  <a:cubicBezTo>
                    <a:pt x="552545" y="388112"/>
                    <a:pt x="560736" y="376872"/>
                    <a:pt x="572928" y="369760"/>
                  </a:cubicBezTo>
                  <a:lnTo>
                    <a:pt x="747807" y="268859"/>
                  </a:lnTo>
                  <a:cubicBezTo>
                    <a:pt x="772382" y="254635"/>
                    <a:pt x="803878" y="263080"/>
                    <a:pt x="818102" y="287719"/>
                  </a:cubicBezTo>
                  <a:cubicBezTo>
                    <a:pt x="832389" y="312293"/>
                    <a:pt x="823944" y="343725"/>
                    <a:pt x="799242" y="357949"/>
                  </a:cubicBezTo>
                  <a:close/>
                  <a:moveTo>
                    <a:pt x="706723" y="631698"/>
                  </a:moveTo>
                  <a:lnTo>
                    <a:pt x="531844" y="530860"/>
                  </a:lnTo>
                  <a:cubicBezTo>
                    <a:pt x="522446" y="525399"/>
                    <a:pt x="512032" y="523303"/>
                    <a:pt x="502062" y="524129"/>
                  </a:cubicBezTo>
                  <a:cubicBezTo>
                    <a:pt x="475392" y="526034"/>
                    <a:pt x="454437" y="548322"/>
                    <a:pt x="454437" y="575437"/>
                  </a:cubicBezTo>
                  <a:lnTo>
                    <a:pt x="454437" y="777367"/>
                  </a:lnTo>
                  <a:cubicBezTo>
                    <a:pt x="454437" y="805815"/>
                    <a:pt x="477424" y="828865"/>
                    <a:pt x="505872" y="828865"/>
                  </a:cubicBezTo>
                  <a:cubicBezTo>
                    <a:pt x="534320" y="828865"/>
                    <a:pt x="557371" y="805815"/>
                    <a:pt x="557371" y="777367"/>
                  </a:cubicBezTo>
                  <a:lnTo>
                    <a:pt x="557371" y="664400"/>
                  </a:lnTo>
                  <a:lnTo>
                    <a:pt x="655288" y="720915"/>
                  </a:lnTo>
                  <a:cubicBezTo>
                    <a:pt x="679862" y="735203"/>
                    <a:pt x="711358" y="726758"/>
                    <a:pt x="725519" y="702183"/>
                  </a:cubicBezTo>
                  <a:cubicBezTo>
                    <a:pt x="739679" y="677545"/>
                    <a:pt x="731297" y="645986"/>
                    <a:pt x="706659" y="631698"/>
                  </a:cubicBezTo>
                  <a:close/>
                  <a:moveTo>
                    <a:pt x="504920" y="434149"/>
                  </a:moveTo>
                  <a:lnTo>
                    <a:pt x="432212" y="506730"/>
                  </a:lnTo>
                  <a:cubicBezTo>
                    <a:pt x="430117" y="508889"/>
                    <a:pt x="426116" y="510603"/>
                    <a:pt x="423068" y="510603"/>
                  </a:cubicBezTo>
                  <a:lnTo>
                    <a:pt x="401669" y="510603"/>
                  </a:lnTo>
                  <a:cubicBezTo>
                    <a:pt x="398748" y="510603"/>
                    <a:pt x="394684" y="508889"/>
                    <a:pt x="392525" y="506730"/>
                  </a:cubicBezTo>
                  <a:lnTo>
                    <a:pt x="319881" y="434149"/>
                  </a:lnTo>
                  <a:cubicBezTo>
                    <a:pt x="317785" y="432118"/>
                    <a:pt x="316134" y="427990"/>
                    <a:pt x="316134" y="425069"/>
                  </a:cubicBezTo>
                  <a:lnTo>
                    <a:pt x="316134" y="403669"/>
                  </a:lnTo>
                  <a:cubicBezTo>
                    <a:pt x="316134" y="400685"/>
                    <a:pt x="317785" y="396557"/>
                    <a:pt x="319881" y="394525"/>
                  </a:cubicBezTo>
                  <a:lnTo>
                    <a:pt x="392525" y="321945"/>
                  </a:lnTo>
                  <a:cubicBezTo>
                    <a:pt x="394620" y="319786"/>
                    <a:pt x="398684" y="318135"/>
                    <a:pt x="401669" y="318135"/>
                  </a:cubicBezTo>
                  <a:lnTo>
                    <a:pt x="423068" y="318135"/>
                  </a:lnTo>
                  <a:cubicBezTo>
                    <a:pt x="426053" y="318135"/>
                    <a:pt x="430117" y="319786"/>
                    <a:pt x="432212" y="321945"/>
                  </a:cubicBezTo>
                  <a:lnTo>
                    <a:pt x="504920" y="394525"/>
                  </a:lnTo>
                  <a:cubicBezTo>
                    <a:pt x="507015" y="396621"/>
                    <a:pt x="508666" y="400685"/>
                    <a:pt x="508666" y="403669"/>
                  </a:cubicBezTo>
                  <a:lnTo>
                    <a:pt x="508666" y="425069"/>
                  </a:lnTo>
                  <a:cubicBezTo>
                    <a:pt x="508666" y="427990"/>
                    <a:pt x="507015" y="432054"/>
                    <a:pt x="504920" y="434149"/>
                  </a:cubicBezTo>
                  <a:close/>
                  <a:moveTo>
                    <a:pt x="446817" y="414020"/>
                  </a:moveTo>
                  <a:cubicBezTo>
                    <a:pt x="446817" y="411099"/>
                    <a:pt x="445039" y="407035"/>
                    <a:pt x="442944" y="404813"/>
                  </a:cubicBezTo>
                  <a:lnTo>
                    <a:pt x="421925" y="383857"/>
                  </a:lnTo>
                  <a:cubicBezTo>
                    <a:pt x="419830" y="381762"/>
                    <a:pt x="415766" y="380047"/>
                    <a:pt x="412845" y="380047"/>
                  </a:cubicBezTo>
                  <a:lnTo>
                    <a:pt x="412019" y="380047"/>
                  </a:lnTo>
                  <a:cubicBezTo>
                    <a:pt x="409098" y="380047"/>
                    <a:pt x="405034" y="381762"/>
                    <a:pt x="402939" y="383857"/>
                  </a:cubicBezTo>
                  <a:lnTo>
                    <a:pt x="381920" y="404813"/>
                  </a:lnTo>
                  <a:cubicBezTo>
                    <a:pt x="379825" y="406971"/>
                    <a:pt x="378174" y="411099"/>
                    <a:pt x="378174" y="414020"/>
                  </a:cubicBezTo>
                  <a:lnTo>
                    <a:pt x="378174" y="414846"/>
                  </a:lnTo>
                  <a:cubicBezTo>
                    <a:pt x="378174" y="417766"/>
                    <a:pt x="379761" y="421767"/>
                    <a:pt x="381920" y="423926"/>
                  </a:cubicBezTo>
                  <a:lnTo>
                    <a:pt x="402939" y="444944"/>
                  </a:lnTo>
                  <a:cubicBezTo>
                    <a:pt x="405034" y="447040"/>
                    <a:pt x="409035" y="448755"/>
                    <a:pt x="412019" y="448755"/>
                  </a:cubicBezTo>
                  <a:lnTo>
                    <a:pt x="412845" y="448755"/>
                  </a:lnTo>
                  <a:cubicBezTo>
                    <a:pt x="415766" y="448755"/>
                    <a:pt x="419893" y="447040"/>
                    <a:pt x="421925" y="444944"/>
                  </a:cubicBezTo>
                  <a:lnTo>
                    <a:pt x="442944" y="423926"/>
                  </a:lnTo>
                  <a:cubicBezTo>
                    <a:pt x="445039" y="421830"/>
                    <a:pt x="446817" y="417766"/>
                    <a:pt x="446817" y="414846"/>
                  </a:cubicBezTo>
                  <a:lnTo>
                    <a:pt x="446817" y="414020"/>
                  </a:lnTo>
                  <a:close/>
                  <a:moveTo>
                    <a:pt x="118141" y="197041"/>
                  </a:moveTo>
                  <a:lnTo>
                    <a:pt x="293020" y="298005"/>
                  </a:lnTo>
                  <a:cubicBezTo>
                    <a:pt x="302418" y="303403"/>
                    <a:pt x="312832" y="305562"/>
                    <a:pt x="322865" y="304736"/>
                  </a:cubicBezTo>
                  <a:cubicBezTo>
                    <a:pt x="349472" y="302768"/>
                    <a:pt x="370490" y="280480"/>
                    <a:pt x="370490" y="253365"/>
                  </a:cubicBezTo>
                  <a:lnTo>
                    <a:pt x="370490" y="51435"/>
                  </a:lnTo>
                  <a:cubicBezTo>
                    <a:pt x="370490" y="23050"/>
                    <a:pt x="347376" y="0"/>
                    <a:pt x="319055" y="0"/>
                  </a:cubicBezTo>
                  <a:cubicBezTo>
                    <a:pt x="290734" y="0"/>
                    <a:pt x="267557" y="23050"/>
                    <a:pt x="267557" y="51435"/>
                  </a:cubicBezTo>
                  <a:lnTo>
                    <a:pt x="267557" y="164402"/>
                  </a:lnTo>
                  <a:lnTo>
                    <a:pt x="169576" y="107823"/>
                  </a:lnTo>
                  <a:cubicBezTo>
                    <a:pt x="145002" y="93599"/>
                    <a:pt x="113569" y="102044"/>
                    <a:pt x="99345" y="126619"/>
                  </a:cubicBezTo>
                  <a:cubicBezTo>
                    <a:pt x="85121" y="151321"/>
                    <a:pt x="93567" y="182753"/>
                    <a:pt x="118141" y="196977"/>
                  </a:cubicBezTo>
                  <a:close/>
                  <a:moveTo>
                    <a:pt x="502062" y="304673"/>
                  </a:moveTo>
                  <a:cubicBezTo>
                    <a:pt x="512095" y="305499"/>
                    <a:pt x="522509" y="303339"/>
                    <a:pt x="531844" y="297942"/>
                  </a:cubicBezTo>
                  <a:lnTo>
                    <a:pt x="706723" y="196977"/>
                  </a:lnTo>
                  <a:cubicBezTo>
                    <a:pt x="731361" y="182753"/>
                    <a:pt x="739743" y="151257"/>
                    <a:pt x="725582" y="126619"/>
                  </a:cubicBezTo>
                  <a:cubicBezTo>
                    <a:pt x="711358" y="102044"/>
                    <a:pt x="679926" y="93599"/>
                    <a:pt x="655351" y="107823"/>
                  </a:cubicBezTo>
                  <a:lnTo>
                    <a:pt x="557434" y="164402"/>
                  </a:lnTo>
                  <a:lnTo>
                    <a:pt x="557434" y="51435"/>
                  </a:lnTo>
                  <a:cubicBezTo>
                    <a:pt x="557434" y="23050"/>
                    <a:pt x="534384" y="0"/>
                    <a:pt x="505936" y="0"/>
                  </a:cubicBezTo>
                  <a:cubicBezTo>
                    <a:pt x="477488" y="0"/>
                    <a:pt x="454501" y="23050"/>
                    <a:pt x="454501" y="51435"/>
                  </a:cubicBezTo>
                  <a:lnTo>
                    <a:pt x="454501" y="253365"/>
                  </a:lnTo>
                  <a:cubicBezTo>
                    <a:pt x="454501" y="280416"/>
                    <a:pt x="475456" y="302768"/>
                    <a:pt x="502126" y="304736"/>
                  </a:cubicBezTo>
                  <a:close/>
                  <a:moveTo>
                    <a:pt x="322929" y="524129"/>
                  </a:moveTo>
                  <a:cubicBezTo>
                    <a:pt x="312896" y="523240"/>
                    <a:pt x="302418" y="525399"/>
                    <a:pt x="293084" y="530860"/>
                  </a:cubicBezTo>
                  <a:lnTo>
                    <a:pt x="118205" y="631698"/>
                  </a:lnTo>
                  <a:cubicBezTo>
                    <a:pt x="93630" y="645922"/>
                    <a:pt x="85185" y="677481"/>
                    <a:pt x="99409" y="702183"/>
                  </a:cubicBezTo>
                  <a:cubicBezTo>
                    <a:pt x="113696" y="726758"/>
                    <a:pt x="145129" y="735203"/>
                    <a:pt x="169640" y="720915"/>
                  </a:cubicBezTo>
                  <a:lnTo>
                    <a:pt x="267620" y="664400"/>
                  </a:lnTo>
                  <a:lnTo>
                    <a:pt x="267620" y="777367"/>
                  </a:lnTo>
                  <a:cubicBezTo>
                    <a:pt x="267620" y="805815"/>
                    <a:pt x="290671" y="828865"/>
                    <a:pt x="319119" y="828865"/>
                  </a:cubicBezTo>
                  <a:cubicBezTo>
                    <a:pt x="347567" y="828865"/>
                    <a:pt x="370554" y="805815"/>
                    <a:pt x="370554" y="777367"/>
                  </a:cubicBezTo>
                  <a:lnTo>
                    <a:pt x="370554" y="575437"/>
                  </a:lnTo>
                  <a:cubicBezTo>
                    <a:pt x="370554" y="548322"/>
                    <a:pt x="349535" y="526034"/>
                    <a:pt x="322929" y="524129"/>
                  </a:cubicBezTo>
                  <a:close/>
                  <a:moveTo>
                    <a:pt x="275494" y="429578"/>
                  </a:moveTo>
                  <a:cubicBezTo>
                    <a:pt x="277209" y="424053"/>
                    <a:pt x="277971" y="418402"/>
                    <a:pt x="277844" y="412813"/>
                  </a:cubicBezTo>
                  <a:cubicBezTo>
                    <a:pt x="277653" y="408749"/>
                    <a:pt x="277145" y="404685"/>
                    <a:pt x="275939" y="400685"/>
                  </a:cubicBezTo>
                  <a:cubicBezTo>
                    <a:pt x="272510" y="388112"/>
                    <a:pt x="264255" y="376872"/>
                    <a:pt x="251999" y="369760"/>
                  </a:cubicBezTo>
                  <a:lnTo>
                    <a:pt x="77247" y="268859"/>
                  </a:lnTo>
                  <a:cubicBezTo>
                    <a:pt x="52609" y="254635"/>
                    <a:pt x="21113" y="263080"/>
                    <a:pt x="6953" y="287719"/>
                  </a:cubicBezTo>
                  <a:cubicBezTo>
                    <a:pt x="-7335" y="312293"/>
                    <a:pt x="1111" y="343725"/>
                    <a:pt x="25749" y="357949"/>
                  </a:cubicBezTo>
                  <a:lnTo>
                    <a:pt x="123412" y="414464"/>
                  </a:lnTo>
                  <a:lnTo>
                    <a:pt x="25749" y="470789"/>
                  </a:lnTo>
                  <a:cubicBezTo>
                    <a:pt x="1111" y="485077"/>
                    <a:pt x="-7335" y="516446"/>
                    <a:pt x="6953" y="541147"/>
                  </a:cubicBezTo>
                  <a:cubicBezTo>
                    <a:pt x="21113" y="565721"/>
                    <a:pt x="52546" y="574103"/>
                    <a:pt x="77247" y="559943"/>
                  </a:cubicBezTo>
                  <a:lnTo>
                    <a:pt x="251999" y="458978"/>
                  </a:lnTo>
                  <a:cubicBezTo>
                    <a:pt x="263810" y="452184"/>
                    <a:pt x="271811" y="441579"/>
                    <a:pt x="275494" y="429578"/>
                  </a:cubicBezTo>
                  <a:close/>
                </a:path>
              </a:pathLst>
            </a:custGeom>
            <a:solidFill>
              <a:srgbClr val="29B5E8"/>
            </a:solidFill>
            <a:ln>
              <a:noFill/>
            </a:ln>
          </p:spPr>
          <p:txBody>
            <a:bodyPr spcFirstLastPara="1" wrap="square" lIns="207550" tIns="103775" rIns="207550" bIns="103775" anchor="ctr" anchorCtr="0">
              <a:noAutofit/>
            </a:bodyPr>
            <a:lstStyle/>
            <a:p>
              <a:pPr marL="0" marR="0" lvl="0" indent="0" algn="l" rtl="0">
                <a:spcBef>
                  <a:spcPts val="0"/>
                </a:spcBef>
                <a:spcAft>
                  <a:spcPts val="0"/>
                </a:spcAft>
                <a:buNone/>
              </a:pPr>
              <a:endParaRPr sz="4218">
                <a:solidFill>
                  <a:srgbClr val="000000"/>
                </a:solidFill>
                <a:latin typeface="Arial"/>
                <a:ea typeface="Arial"/>
                <a:cs typeface="Arial"/>
                <a:sym typeface="Arial"/>
              </a:endParaRPr>
            </a:p>
          </p:txBody>
        </p:sp>
      </p:grpSp>
      <p:grpSp>
        <p:nvGrpSpPr>
          <p:cNvPr id="414" name="Google Shape;414;p44"/>
          <p:cNvGrpSpPr/>
          <p:nvPr/>
        </p:nvGrpSpPr>
        <p:grpSpPr>
          <a:xfrm>
            <a:off x="16803218" y="8899219"/>
            <a:ext cx="472876" cy="542992"/>
            <a:chOff x="1853392" y="179809"/>
            <a:chExt cx="249381" cy="286328"/>
          </a:xfrm>
        </p:grpSpPr>
        <p:sp>
          <p:nvSpPr>
            <p:cNvPr id="415" name="Google Shape;415;p44"/>
            <p:cNvSpPr/>
            <p:nvPr/>
          </p:nvSpPr>
          <p:spPr>
            <a:xfrm>
              <a:off x="1853392" y="179809"/>
              <a:ext cx="249381" cy="286328"/>
            </a:xfrm>
            <a:custGeom>
              <a:avLst/>
              <a:gdLst/>
              <a:ahLst/>
              <a:cxnLst/>
              <a:rect l="l" t="t" r="r" b="b"/>
              <a:pathLst>
                <a:path w="249381" h="286328" extrusionOk="0">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spcFirstLastPara="1" wrap="square" lIns="229950" tIns="114950" rIns="229950" bIns="114950" anchor="ctr" anchorCtr="0">
              <a:noAutofit/>
            </a:bodyPr>
            <a:lstStyle/>
            <a:p>
              <a:pPr marL="0" marR="0" lvl="0" indent="0" algn="l" rtl="0">
                <a:spcBef>
                  <a:spcPts val="0"/>
                </a:spcBef>
                <a:spcAft>
                  <a:spcPts val="0"/>
                </a:spcAft>
                <a:buClr>
                  <a:srgbClr val="252525"/>
                </a:buClr>
                <a:buSzPts val="3643"/>
                <a:buFont typeface="Arial"/>
                <a:buNone/>
              </a:pPr>
              <a:endParaRPr sz="3643">
                <a:solidFill>
                  <a:srgbClr val="262626"/>
                </a:solidFill>
                <a:latin typeface="Arial"/>
                <a:ea typeface="Arial"/>
                <a:cs typeface="Arial"/>
                <a:sym typeface="Arial"/>
              </a:endParaRPr>
            </a:p>
          </p:txBody>
        </p:sp>
        <p:sp>
          <p:nvSpPr>
            <p:cNvPr id="416" name="Google Shape;416;p44"/>
            <p:cNvSpPr/>
            <p:nvPr/>
          </p:nvSpPr>
          <p:spPr>
            <a:xfrm>
              <a:off x="1951851" y="344863"/>
              <a:ext cx="50892" cy="72044"/>
            </a:xfrm>
            <a:custGeom>
              <a:avLst/>
              <a:gdLst/>
              <a:ahLst/>
              <a:cxnLst/>
              <a:rect l="l" t="t" r="r" b="b"/>
              <a:pathLst>
                <a:path w="50892" h="72044" extrusionOk="0">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spcFirstLastPara="1" wrap="square" lIns="229950" tIns="114950" rIns="229950" bIns="114950" anchor="ctr" anchorCtr="0">
              <a:noAutofit/>
            </a:bodyPr>
            <a:lstStyle/>
            <a:p>
              <a:pPr marL="0" marR="0" lvl="0" indent="0" algn="l" rtl="0">
                <a:spcBef>
                  <a:spcPts val="0"/>
                </a:spcBef>
                <a:spcAft>
                  <a:spcPts val="0"/>
                </a:spcAft>
                <a:buClr>
                  <a:srgbClr val="252525"/>
                </a:buClr>
                <a:buSzPts val="3643"/>
                <a:buFont typeface="Arial"/>
                <a:buNone/>
              </a:pPr>
              <a:endParaRPr sz="3643">
                <a:solidFill>
                  <a:srgbClr val="262626"/>
                </a:solidFill>
                <a:latin typeface="Arial"/>
                <a:ea typeface="Arial"/>
                <a:cs typeface="Arial"/>
                <a:sym typeface="Arial"/>
              </a:endParaRPr>
            </a:p>
          </p:txBody>
        </p:sp>
      </p:grpSp>
      <p:sp>
        <p:nvSpPr>
          <p:cNvPr id="417" name="Google Shape;417;p44"/>
          <p:cNvSpPr/>
          <p:nvPr/>
        </p:nvSpPr>
        <p:spPr>
          <a:xfrm>
            <a:off x="1460699" y="2794216"/>
            <a:ext cx="15317700" cy="1322400"/>
          </a:xfrm>
          <a:prstGeom prst="roundRect">
            <a:avLst>
              <a:gd name="adj" fmla="val 13625"/>
            </a:avLst>
          </a:prstGeom>
          <a:solidFill>
            <a:srgbClr val="11567F">
              <a:alpha val="20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grpSp>
        <p:nvGrpSpPr>
          <p:cNvPr id="418" name="Google Shape;418;p44"/>
          <p:cNvGrpSpPr/>
          <p:nvPr/>
        </p:nvGrpSpPr>
        <p:grpSpPr>
          <a:xfrm>
            <a:off x="1655985" y="3310436"/>
            <a:ext cx="14927614" cy="636193"/>
            <a:chOff x="1465000" y="3247613"/>
            <a:chExt cx="15570683" cy="663600"/>
          </a:xfrm>
        </p:grpSpPr>
        <p:sp>
          <p:nvSpPr>
            <p:cNvPr id="419" name="Google Shape;419;p44"/>
            <p:cNvSpPr/>
            <p:nvPr/>
          </p:nvSpPr>
          <p:spPr>
            <a:xfrm>
              <a:off x="4343146" y="3247613"/>
              <a:ext cx="26700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Orchestration</a:t>
              </a:r>
              <a:endParaRPr sz="1534" b="1">
                <a:solidFill>
                  <a:schemeClr val="lt1"/>
                </a:solidFill>
              </a:endParaRPr>
            </a:p>
            <a:p>
              <a:pPr marL="0" marR="0" lvl="0" indent="0" algn="ctr" rtl="0">
                <a:lnSpc>
                  <a:spcPct val="100000"/>
                </a:lnSpc>
                <a:spcBef>
                  <a:spcPts val="0"/>
                </a:spcBef>
                <a:spcAft>
                  <a:spcPts val="0"/>
                </a:spcAft>
                <a:buNone/>
              </a:pPr>
              <a:r>
                <a:rPr lang="en-US" sz="1534" b="1">
                  <a:solidFill>
                    <a:schemeClr val="lt1"/>
                  </a:solidFill>
                </a:rPr>
                <a:t>Cortex Agent </a:t>
              </a:r>
              <a:endParaRPr sz="1534" b="1" baseline="30000">
                <a:solidFill>
                  <a:schemeClr val="lt1"/>
                </a:solidFill>
              </a:endParaRPr>
            </a:p>
          </p:txBody>
        </p:sp>
        <p:sp>
          <p:nvSpPr>
            <p:cNvPr id="420" name="Google Shape;420;p44"/>
            <p:cNvSpPr/>
            <p:nvPr/>
          </p:nvSpPr>
          <p:spPr>
            <a:xfrm>
              <a:off x="1465000" y="3247613"/>
              <a:ext cx="26700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Coding Agen</a:t>
              </a:r>
              <a:r>
                <a:rPr lang="en-US" sz="1534" b="1">
                  <a:solidFill>
                    <a:schemeClr val="lt1"/>
                  </a:solidFill>
                </a:rPr>
                <a:t>t</a:t>
              </a:r>
              <a:endParaRPr sz="1534" b="1">
                <a:solidFill>
                  <a:schemeClr val="lt1"/>
                </a:solidFill>
              </a:endParaRPr>
            </a:p>
            <a:p>
              <a:pPr marL="0" lvl="0" indent="0" algn="ctr" rtl="0">
                <a:spcBef>
                  <a:spcPts val="0"/>
                </a:spcBef>
                <a:spcAft>
                  <a:spcPts val="0"/>
                </a:spcAft>
                <a:buNone/>
              </a:pPr>
              <a:r>
                <a:rPr lang="en-US" sz="1534" b="1">
                  <a:solidFill>
                    <a:schemeClr val="lt1"/>
                  </a:solidFill>
                </a:rPr>
                <a:t>CoCo </a:t>
              </a:r>
              <a:endParaRPr sz="1534" b="1">
                <a:solidFill>
                  <a:schemeClr val="lt1"/>
                </a:solidFill>
              </a:endParaRPr>
            </a:p>
          </p:txBody>
        </p:sp>
        <p:sp>
          <p:nvSpPr>
            <p:cNvPr id="421" name="Google Shape;421;p44"/>
            <p:cNvSpPr/>
            <p:nvPr/>
          </p:nvSpPr>
          <p:spPr>
            <a:xfrm>
              <a:off x="7221292" y="3247613"/>
              <a:ext cx="26700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Business Agent</a:t>
              </a:r>
              <a:br>
                <a:rPr lang="en-US" sz="1534" b="1">
                  <a:solidFill>
                    <a:schemeClr val="lt1"/>
                  </a:solidFill>
                </a:rPr>
              </a:br>
              <a:r>
                <a:rPr lang="en-US" sz="1534" b="1">
                  <a:solidFill>
                    <a:schemeClr val="lt1"/>
                  </a:solidFill>
                </a:rPr>
                <a:t>Snowflake CoWork </a:t>
              </a:r>
              <a:endParaRPr sz="1534">
                <a:solidFill>
                  <a:schemeClr val="lt1"/>
                </a:solidFill>
              </a:endParaRPr>
            </a:p>
          </p:txBody>
        </p:sp>
        <p:sp>
          <p:nvSpPr>
            <p:cNvPr id="422" name="Google Shape;422;p44"/>
            <p:cNvSpPr/>
            <p:nvPr/>
          </p:nvSpPr>
          <p:spPr>
            <a:xfrm>
              <a:off x="10099437" y="3247613"/>
              <a:ext cx="32277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Clr>
                  <a:schemeClr val="dk1"/>
                </a:buClr>
                <a:buSzPts val="2109"/>
                <a:buFont typeface="Arial"/>
                <a:buNone/>
              </a:pPr>
              <a:r>
                <a:rPr lang="en-US" sz="1534">
                  <a:solidFill>
                    <a:schemeClr val="lt1"/>
                  </a:solidFill>
                </a:rPr>
                <a:t>Analytics &amp; Predictive Insights</a:t>
              </a:r>
              <a:endParaRPr sz="1534">
                <a:solidFill>
                  <a:schemeClr val="lt1"/>
                </a:solidFill>
              </a:endParaRPr>
            </a:p>
            <a:p>
              <a:pPr marL="0" lvl="0" indent="0" algn="ctr" rtl="0">
                <a:spcBef>
                  <a:spcPts val="0"/>
                </a:spcBef>
                <a:spcAft>
                  <a:spcPts val="0"/>
                </a:spcAft>
                <a:buNone/>
              </a:pPr>
              <a:r>
                <a:rPr lang="en-US" sz="1534" b="1">
                  <a:solidFill>
                    <a:schemeClr val="lt1"/>
                  </a:solidFill>
                </a:rPr>
                <a:t>AI Functions &amp;</a:t>
              </a:r>
              <a:r>
                <a:rPr lang="en-US" sz="1534">
                  <a:solidFill>
                    <a:schemeClr val="lt1"/>
                  </a:solidFill>
                </a:rPr>
                <a:t> </a:t>
              </a:r>
              <a:r>
                <a:rPr lang="en-US" sz="1534" b="1">
                  <a:solidFill>
                    <a:schemeClr val="lt1"/>
                  </a:solidFill>
                </a:rPr>
                <a:t>Snowflake ML</a:t>
              </a:r>
              <a:endParaRPr sz="1534">
                <a:solidFill>
                  <a:schemeClr val="lt1"/>
                </a:solidFill>
              </a:endParaRPr>
            </a:p>
          </p:txBody>
        </p:sp>
        <p:sp>
          <p:nvSpPr>
            <p:cNvPr id="423" name="Google Shape;423;p44"/>
            <p:cNvSpPr/>
            <p:nvPr/>
          </p:nvSpPr>
          <p:spPr>
            <a:xfrm>
              <a:off x="13535283" y="3247613"/>
              <a:ext cx="35004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Connection</a:t>
              </a:r>
              <a:endParaRPr sz="1534" b="1">
                <a:solidFill>
                  <a:schemeClr val="lt1"/>
                </a:solidFill>
              </a:endParaRPr>
            </a:p>
            <a:p>
              <a:pPr marL="0" lvl="0" indent="0" algn="ctr" rtl="0">
                <a:spcBef>
                  <a:spcPts val="0"/>
                </a:spcBef>
                <a:spcAft>
                  <a:spcPts val="0"/>
                </a:spcAft>
                <a:buNone/>
              </a:pPr>
              <a:r>
                <a:rPr lang="en-US" sz="1534" b="1">
                  <a:solidFill>
                    <a:schemeClr val="lt1"/>
                  </a:solidFill>
                </a:rPr>
                <a:t>Snowflake Managed MCP Server</a:t>
              </a:r>
              <a:endParaRPr sz="1534" b="1">
                <a:solidFill>
                  <a:schemeClr val="lt1"/>
                </a:solidFill>
              </a:endParaRPr>
            </a:p>
          </p:txBody>
        </p:sp>
      </p:grpSp>
      <p:sp>
        <p:nvSpPr>
          <p:cNvPr id="424" name="Google Shape;424;p44"/>
          <p:cNvSpPr/>
          <p:nvPr/>
        </p:nvSpPr>
        <p:spPr>
          <a:xfrm>
            <a:off x="8198950" y="9298504"/>
            <a:ext cx="1821000" cy="307200"/>
          </a:xfrm>
          <a:prstGeom prst="roundRect">
            <a:avLst>
              <a:gd name="adj" fmla="val 18690"/>
            </a:avLst>
          </a:prstGeom>
          <a:solidFill>
            <a:schemeClr val="lt1"/>
          </a:solidFill>
          <a:ln w="38100" cap="flat" cmpd="sng">
            <a:solidFill>
              <a:schemeClr val="lt1"/>
            </a:solidFill>
            <a:prstDash val="solid"/>
            <a:round/>
            <a:headEnd type="none" w="sm" len="sm"/>
            <a:tailEnd type="none" w="sm" len="sm"/>
          </a:ln>
        </p:spPr>
        <p:txBody>
          <a:bodyPr spcFirstLastPara="1" wrap="square" lIns="0" tIns="365700" rIns="0" bIns="365700" anchor="ctr" anchorCtr="0">
            <a:noAutofit/>
          </a:bodyPr>
          <a:lstStyle/>
          <a:p>
            <a:pPr marL="0" marR="0" lvl="0" indent="0" algn="ctr" rtl="0">
              <a:lnSpc>
                <a:spcPct val="100000"/>
              </a:lnSpc>
              <a:spcBef>
                <a:spcPts val="0"/>
              </a:spcBef>
              <a:spcAft>
                <a:spcPts val="0"/>
              </a:spcAft>
              <a:buNone/>
            </a:pPr>
            <a:r>
              <a:rPr lang="en-US" sz="1600" b="1">
                <a:solidFill>
                  <a:schemeClr val="dk1"/>
                </a:solidFill>
              </a:rPr>
              <a:t>Horizon Catalog </a:t>
            </a:r>
            <a:endParaRPr sz="1600" b="1">
              <a:solidFill>
                <a:schemeClr val="dk1"/>
              </a:solidFill>
            </a:endParaRPr>
          </a:p>
        </p:txBody>
      </p:sp>
      <p:sp>
        <p:nvSpPr>
          <p:cNvPr id="425" name="Google Shape;425;p44"/>
          <p:cNvSpPr/>
          <p:nvPr/>
        </p:nvSpPr>
        <p:spPr>
          <a:xfrm>
            <a:off x="7516917" y="5160717"/>
            <a:ext cx="3270000" cy="847500"/>
          </a:xfrm>
          <a:prstGeom prst="roundRect">
            <a:avLst>
              <a:gd name="adj" fmla="val 15287"/>
            </a:avLst>
          </a:prstGeom>
          <a:solidFill>
            <a:schemeClr val="accent1"/>
          </a:solidFill>
          <a:ln>
            <a:noFill/>
          </a:ln>
        </p:spPr>
        <p:txBody>
          <a:bodyPr spcFirstLastPara="1" wrap="square" lIns="0" tIns="87675" rIns="0" bIns="87675" anchor="ctr" anchorCtr="0">
            <a:noAutofit/>
          </a:bodyPr>
          <a:lstStyle/>
          <a:p>
            <a:pPr marL="0" lvl="0" indent="0" algn="ctr" rtl="0">
              <a:spcBef>
                <a:spcPts val="0"/>
              </a:spcBef>
              <a:spcAft>
                <a:spcPts val="0"/>
              </a:spcAft>
              <a:buNone/>
            </a:pPr>
            <a:r>
              <a:rPr lang="en-US" sz="1534">
                <a:solidFill>
                  <a:schemeClr val="lt1"/>
                </a:solidFill>
              </a:rPr>
              <a:t>Data Integrity and Encryption</a:t>
            </a:r>
            <a:endParaRPr sz="1534">
              <a:solidFill>
                <a:schemeClr val="lt1"/>
              </a:solidFill>
            </a:endParaRPr>
          </a:p>
          <a:p>
            <a:pPr marL="0" lvl="0" indent="0" algn="ctr" rtl="0">
              <a:spcBef>
                <a:spcPts val="0"/>
              </a:spcBef>
              <a:spcAft>
                <a:spcPts val="0"/>
              </a:spcAft>
              <a:buNone/>
            </a:pPr>
            <a:r>
              <a:rPr lang="en-US" sz="1726" b="1">
                <a:solidFill>
                  <a:schemeClr val="lt1"/>
                </a:solidFill>
              </a:rPr>
              <a:t>Sensitive Data Protection </a:t>
            </a:r>
            <a:endParaRPr sz="1726" b="1" baseline="30000">
              <a:solidFill>
                <a:schemeClr val="lt1"/>
              </a:solidFill>
            </a:endParaRPr>
          </a:p>
        </p:txBody>
      </p:sp>
      <p:sp>
        <p:nvSpPr>
          <p:cNvPr id="426" name="Google Shape;426;p44"/>
          <p:cNvSpPr/>
          <p:nvPr/>
        </p:nvSpPr>
        <p:spPr>
          <a:xfrm>
            <a:off x="11993983" y="4976289"/>
            <a:ext cx="3635100" cy="3322800"/>
          </a:xfrm>
          <a:prstGeom prst="roundRect">
            <a:avLst>
              <a:gd name="adj" fmla="val 6368"/>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27" name="Google Shape;427;p44"/>
          <p:cNvSpPr/>
          <p:nvPr/>
        </p:nvSpPr>
        <p:spPr>
          <a:xfrm>
            <a:off x="12177732" y="5160717"/>
            <a:ext cx="3270000" cy="847500"/>
          </a:xfrm>
          <a:prstGeom prst="roundRect">
            <a:avLst>
              <a:gd name="adj" fmla="val 15287"/>
            </a:avLst>
          </a:prstGeom>
          <a:solidFill>
            <a:schemeClr val="accent1"/>
          </a:solidFill>
          <a:ln>
            <a:noFill/>
          </a:ln>
        </p:spPr>
        <p:txBody>
          <a:bodyPr spcFirstLastPara="1" wrap="square" lIns="0" tIns="87675" rIns="0" bIns="87675" anchor="ctr" anchorCtr="0">
            <a:noAutofit/>
          </a:bodyPr>
          <a:lstStyle/>
          <a:p>
            <a:pPr marL="0" lvl="0" indent="0" algn="ctr" rtl="0">
              <a:spcBef>
                <a:spcPts val="0"/>
              </a:spcBef>
              <a:spcAft>
                <a:spcPts val="0"/>
              </a:spcAft>
              <a:buNone/>
            </a:pPr>
            <a:r>
              <a:rPr lang="en-US" sz="1534">
                <a:solidFill>
                  <a:schemeClr val="lt1"/>
                </a:solidFill>
              </a:rPr>
              <a:t>Authentication</a:t>
            </a:r>
            <a:endParaRPr sz="1726" b="1">
              <a:solidFill>
                <a:schemeClr val="lt1"/>
              </a:solidFill>
            </a:endParaRPr>
          </a:p>
          <a:p>
            <a:pPr marL="0" lvl="0" indent="0" algn="ctr" rtl="0">
              <a:spcBef>
                <a:spcPts val="0"/>
              </a:spcBef>
              <a:spcAft>
                <a:spcPts val="0"/>
              </a:spcAft>
              <a:buNone/>
            </a:pPr>
            <a:r>
              <a:rPr lang="en-US" sz="1726" b="1">
                <a:solidFill>
                  <a:schemeClr val="lt1"/>
                </a:solidFill>
              </a:rPr>
              <a:t>SSO / Provisioning</a:t>
            </a:r>
            <a:endParaRPr sz="1726" b="1" baseline="30000">
              <a:solidFill>
                <a:schemeClr val="lt1"/>
              </a:solidFill>
            </a:endParaRPr>
          </a:p>
        </p:txBody>
      </p:sp>
      <p:sp>
        <p:nvSpPr>
          <p:cNvPr id="428" name="Google Shape;428;p44"/>
          <p:cNvSpPr/>
          <p:nvPr/>
        </p:nvSpPr>
        <p:spPr>
          <a:xfrm>
            <a:off x="12177732" y="6219801"/>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Authorization</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RBAC / ABAC</a:t>
            </a:r>
            <a:endParaRPr sz="1534">
              <a:solidFill>
                <a:schemeClr val="lt1"/>
              </a:solidFill>
            </a:endParaRPr>
          </a:p>
        </p:txBody>
      </p:sp>
      <p:sp>
        <p:nvSpPr>
          <p:cNvPr id="429" name="Google Shape;429;p44"/>
          <p:cNvSpPr/>
          <p:nvPr/>
        </p:nvSpPr>
        <p:spPr>
          <a:xfrm>
            <a:off x="12177732" y="7261039"/>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Secure Boundary</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Network Security </a:t>
            </a:r>
            <a:endParaRPr sz="1726" b="1">
              <a:solidFill>
                <a:schemeClr val="lt1"/>
              </a:solidFill>
            </a:endParaRPr>
          </a:p>
        </p:txBody>
      </p:sp>
      <p:sp>
        <p:nvSpPr>
          <p:cNvPr id="430" name="Google Shape;430;p44"/>
          <p:cNvSpPr/>
          <p:nvPr/>
        </p:nvSpPr>
        <p:spPr>
          <a:xfrm>
            <a:off x="2823065" y="5160717"/>
            <a:ext cx="3270000" cy="847500"/>
          </a:xfrm>
          <a:prstGeom prst="roundRect">
            <a:avLst>
              <a:gd name="adj" fmla="val 15287"/>
            </a:avLst>
          </a:prstGeom>
          <a:solidFill>
            <a:schemeClr val="accent1"/>
          </a:solidFill>
          <a:ln>
            <a:noFill/>
          </a:ln>
        </p:spPr>
        <p:txBody>
          <a:bodyPr spcFirstLastPara="1" wrap="square" lIns="0" tIns="87675" rIns="0" bIns="87675" anchor="ctr" anchorCtr="0">
            <a:noAutofit/>
          </a:bodyPr>
          <a:lstStyle/>
          <a:p>
            <a:pPr marL="0" lvl="0" indent="0" algn="ctr" rtl="0">
              <a:spcBef>
                <a:spcPts val="0"/>
              </a:spcBef>
              <a:spcAft>
                <a:spcPts val="0"/>
              </a:spcAft>
              <a:buNone/>
            </a:pPr>
            <a:r>
              <a:rPr lang="en-US" sz="1534">
                <a:solidFill>
                  <a:schemeClr val="lt1"/>
                </a:solidFill>
              </a:rPr>
              <a:t>Prompt Protection</a:t>
            </a:r>
            <a:endParaRPr sz="1534">
              <a:solidFill>
                <a:schemeClr val="lt1"/>
              </a:solidFill>
            </a:endParaRPr>
          </a:p>
          <a:p>
            <a:pPr marL="0" lvl="0" indent="0" algn="ctr" rtl="0">
              <a:spcBef>
                <a:spcPts val="0"/>
              </a:spcBef>
              <a:spcAft>
                <a:spcPts val="0"/>
              </a:spcAft>
              <a:buNone/>
            </a:pPr>
            <a:r>
              <a:rPr lang="en-US" sz="1726" b="1">
                <a:solidFill>
                  <a:schemeClr val="lt1"/>
                </a:solidFill>
              </a:rPr>
              <a:t>Horizon AI Guardrails</a:t>
            </a:r>
            <a:endParaRPr sz="1726" b="1" baseline="30000">
              <a:solidFill>
                <a:schemeClr val="lt1"/>
              </a:solidFill>
            </a:endParaRPr>
          </a:p>
        </p:txBody>
      </p:sp>
      <p:sp>
        <p:nvSpPr>
          <p:cNvPr id="431" name="Google Shape;431;p44"/>
          <p:cNvSpPr/>
          <p:nvPr/>
        </p:nvSpPr>
        <p:spPr>
          <a:xfrm>
            <a:off x="2823065" y="6219801"/>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l" rtl="0">
              <a:lnSpc>
                <a:spcPct val="100000"/>
              </a:lnSpc>
              <a:spcBef>
                <a:spcPts val="0"/>
              </a:spcBef>
              <a:spcAft>
                <a:spcPts val="0"/>
              </a:spcAft>
              <a:buNone/>
            </a:pPr>
            <a:r>
              <a:rPr lang="en-US" sz="1534">
                <a:solidFill>
                  <a:schemeClr val="lt1"/>
                </a:solidFill>
              </a:rPr>
              <a:t>            	Agent Identification</a:t>
            </a:r>
            <a:endParaRPr sz="1534">
              <a:solidFill>
                <a:schemeClr val="lt1"/>
              </a:solidFill>
            </a:endParaRPr>
          </a:p>
          <a:p>
            <a:pPr marL="0" marR="0" lvl="0" indent="0" algn="ctr" rtl="0">
              <a:lnSpc>
                <a:spcPct val="100000"/>
              </a:lnSpc>
              <a:spcBef>
                <a:spcPts val="0"/>
              </a:spcBef>
              <a:spcAft>
                <a:spcPts val="0"/>
              </a:spcAft>
              <a:buNone/>
            </a:pPr>
            <a:r>
              <a:rPr lang="en-US" sz="1726" b="1">
                <a:solidFill>
                  <a:schemeClr val="lt1"/>
                </a:solidFill>
              </a:rPr>
              <a:t>Agent Identity  </a:t>
            </a:r>
            <a:endParaRPr sz="1534">
              <a:solidFill>
                <a:schemeClr val="lt1"/>
              </a:solidFill>
            </a:endParaRPr>
          </a:p>
        </p:txBody>
      </p:sp>
      <p:sp>
        <p:nvSpPr>
          <p:cNvPr id="432" name="Google Shape;432;p44"/>
          <p:cNvSpPr/>
          <p:nvPr/>
        </p:nvSpPr>
        <p:spPr>
          <a:xfrm>
            <a:off x="2823065" y="7261039"/>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AI Posture</a:t>
            </a:r>
            <a:endParaRPr sz="1534">
              <a:solidFill>
                <a:schemeClr val="lt1"/>
              </a:solidFill>
            </a:endParaRPr>
          </a:p>
          <a:p>
            <a:pPr marL="0" marR="0" lvl="0" indent="0" algn="ctr" rtl="0">
              <a:lnSpc>
                <a:spcPct val="100000"/>
              </a:lnSpc>
              <a:spcBef>
                <a:spcPts val="0"/>
              </a:spcBef>
              <a:spcAft>
                <a:spcPts val="0"/>
              </a:spcAft>
              <a:buNone/>
            </a:pPr>
            <a:r>
              <a:rPr lang="en-US" sz="1534" b="1">
                <a:solidFill>
                  <a:schemeClr val="lt1"/>
                </a:solidFill>
              </a:rPr>
              <a:t>AI Security Package</a:t>
            </a:r>
            <a:endParaRPr sz="1534" b="1">
              <a:solidFill>
                <a:schemeClr val="lt1"/>
              </a:solidFill>
            </a:endParaRPr>
          </a:p>
        </p:txBody>
      </p:sp>
      <p:sp>
        <p:nvSpPr>
          <p:cNvPr id="433" name="Google Shape;433;p44"/>
          <p:cNvSpPr/>
          <p:nvPr/>
        </p:nvSpPr>
        <p:spPr>
          <a:xfrm>
            <a:off x="1558195" y="8539585"/>
            <a:ext cx="15122700" cy="543000"/>
          </a:xfrm>
          <a:prstGeom prst="roundRect">
            <a:avLst>
              <a:gd name="adj" fmla="val 14871"/>
            </a:avLst>
          </a:prstGeom>
          <a:solidFill>
            <a:schemeClr val="dk2"/>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726" b="1">
                <a:solidFill>
                  <a:schemeClr val="lt1"/>
                </a:solidFill>
              </a:rPr>
              <a:t>Trust Center – Security Posture </a:t>
            </a:r>
            <a:endParaRPr sz="1726" b="1">
              <a:solidFill>
                <a:schemeClr val="lt1"/>
              </a:solidFill>
            </a:endParaRPr>
          </a:p>
        </p:txBody>
      </p:sp>
      <p:grpSp>
        <p:nvGrpSpPr>
          <p:cNvPr id="434" name="Google Shape;434;p44"/>
          <p:cNvGrpSpPr/>
          <p:nvPr/>
        </p:nvGrpSpPr>
        <p:grpSpPr>
          <a:xfrm>
            <a:off x="2533694" y="4394459"/>
            <a:ext cx="13171276" cy="342767"/>
            <a:chOff x="1116868" y="4287702"/>
            <a:chExt cx="6869700" cy="178776"/>
          </a:xfrm>
        </p:grpSpPr>
        <p:sp>
          <p:nvSpPr>
            <p:cNvPr id="435" name="Google Shape;435;p44"/>
            <p:cNvSpPr/>
            <p:nvPr/>
          </p:nvSpPr>
          <p:spPr>
            <a:xfrm>
              <a:off x="1116868" y="4287702"/>
              <a:ext cx="6869700" cy="177000"/>
            </a:xfrm>
            <a:prstGeom prst="roundRect">
              <a:avLst>
                <a:gd name="adj" fmla="val 21936"/>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36" name="Google Shape;436;p44"/>
            <p:cNvSpPr/>
            <p:nvPr/>
          </p:nvSpPr>
          <p:spPr>
            <a:xfrm>
              <a:off x="1269198" y="4289478"/>
              <a:ext cx="1705500" cy="177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Agent Security</a:t>
              </a:r>
              <a:endParaRPr sz="1917" b="1">
                <a:solidFill>
                  <a:schemeClr val="dk2"/>
                </a:solidFill>
              </a:endParaRPr>
            </a:p>
          </p:txBody>
        </p:sp>
        <p:sp>
          <p:nvSpPr>
            <p:cNvPr id="437" name="Google Shape;437;p44"/>
            <p:cNvSpPr/>
            <p:nvPr/>
          </p:nvSpPr>
          <p:spPr>
            <a:xfrm>
              <a:off x="3698973" y="4289478"/>
              <a:ext cx="1705500" cy="177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Data Security</a:t>
              </a:r>
              <a:endParaRPr sz="1917" b="1">
                <a:solidFill>
                  <a:schemeClr val="dk2"/>
                </a:solidFill>
              </a:endParaRPr>
            </a:p>
          </p:txBody>
        </p:sp>
        <p:sp>
          <p:nvSpPr>
            <p:cNvPr id="438" name="Google Shape;438;p44"/>
            <p:cNvSpPr/>
            <p:nvPr/>
          </p:nvSpPr>
          <p:spPr>
            <a:xfrm>
              <a:off x="6240423" y="4289478"/>
              <a:ext cx="1482300" cy="177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Platform Security</a:t>
              </a:r>
              <a:endParaRPr sz="1917" b="1">
                <a:solidFill>
                  <a:schemeClr val="dk2"/>
                </a:solidFill>
              </a:endParaRPr>
            </a:p>
          </p:txBody>
        </p:sp>
      </p:grpSp>
      <p:sp>
        <p:nvSpPr>
          <p:cNvPr id="439" name="Google Shape;439;p44"/>
          <p:cNvSpPr/>
          <p:nvPr/>
        </p:nvSpPr>
        <p:spPr>
          <a:xfrm>
            <a:off x="7334993" y="5990716"/>
            <a:ext cx="3635100" cy="2308500"/>
          </a:xfrm>
          <a:prstGeom prst="roundRect">
            <a:avLst>
              <a:gd name="adj" fmla="val 8532"/>
            </a:avLst>
          </a:prstGeom>
          <a:solidFill>
            <a:srgbClr val="7D44CF">
              <a:alpha val="21250"/>
            </a:srgbClr>
          </a:solidFill>
          <a:ln w="36525" cap="flat" cmpd="sng">
            <a:solidFill>
              <a:schemeClr val="accent5"/>
            </a:solidFill>
            <a:prstDash val="solid"/>
            <a:round/>
            <a:headEnd type="none" w="sm" len="sm"/>
            <a:tailEnd type="none" w="sm" len="sm"/>
          </a:ln>
          <a:effectLst>
            <a:outerShdw blurRad="602668" dist="18263" dir="5400000" algn="bl" rotWithShape="0">
              <a:srgbClr val="000000">
                <a:alpha val="20000"/>
              </a:srgbClr>
            </a:outerShdw>
          </a:effectLst>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40" name="Google Shape;440;p44"/>
          <p:cNvSpPr/>
          <p:nvPr/>
        </p:nvSpPr>
        <p:spPr>
          <a:xfrm>
            <a:off x="7516917" y="7261039"/>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Data-Leak Prevention</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Ransomware Protection</a:t>
            </a:r>
            <a:endParaRPr sz="1726" b="1" baseline="30000">
              <a:solidFill>
                <a:schemeClr val="lt1"/>
              </a:solidFill>
            </a:endParaRPr>
          </a:p>
        </p:txBody>
      </p:sp>
      <p:sp>
        <p:nvSpPr>
          <p:cNvPr id="441" name="Google Shape;441;p44"/>
          <p:cNvSpPr/>
          <p:nvPr/>
        </p:nvSpPr>
        <p:spPr>
          <a:xfrm>
            <a:off x="7516917" y="6219801"/>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Data Egress</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Data Exfiltration Protectio</a:t>
            </a:r>
            <a:r>
              <a:rPr lang="en-US" sz="1534">
                <a:solidFill>
                  <a:schemeClr val="lt1"/>
                </a:solidFill>
              </a:rPr>
              <a:t>n  </a:t>
            </a:r>
            <a:endParaRPr sz="1534">
              <a:solidFill>
                <a:schemeClr val="lt1"/>
              </a:solidFill>
            </a:endParaRPr>
          </a:p>
        </p:txBody>
      </p:sp>
      <p:grpSp>
        <p:nvGrpSpPr>
          <p:cNvPr id="442" name="Google Shape;442;p44"/>
          <p:cNvGrpSpPr/>
          <p:nvPr/>
        </p:nvGrpSpPr>
        <p:grpSpPr>
          <a:xfrm>
            <a:off x="8120632" y="2883653"/>
            <a:ext cx="1998271" cy="377945"/>
            <a:chOff x="7437768" y="2754738"/>
            <a:chExt cx="2084355" cy="394227"/>
          </a:xfrm>
        </p:grpSpPr>
        <p:sp>
          <p:nvSpPr>
            <p:cNvPr id="443" name="Google Shape;443;p44"/>
            <p:cNvSpPr/>
            <p:nvPr/>
          </p:nvSpPr>
          <p:spPr>
            <a:xfrm>
              <a:off x="7954623" y="2774850"/>
              <a:ext cx="1567500" cy="354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Cortex AI </a:t>
              </a:r>
              <a:endParaRPr sz="1917" b="1">
                <a:solidFill>
                  <a:schemeClr val="dk2"/>
                </a:solidFill>
              </a:endParaRPr>
            </a:p>
          </p:txBody>
        </p:sp>
        <p:sp>
          <p:nvSpPr>
            <p:cNvPr id="444" name="Google Shape;444;p44"/>
            <p:cNvSpPr/>
            <p:nvPr/>
          </p:nvSpPr>
          <p:spPr>
            <a:xfrm>
              <a:off x="7437768" y="2754738"/>
              <a:ext cx="612290" cy="394227"/>
            </a:xfrm>
            <a:custGeom>
              <a:avLst/>
              <a:gdLst/>
              <a:ahLst/>
              <a:cxnLst/>
              <a:rect l="l" t="t" r="r" b="b"/>
              <a:pathLst>
                <a:path w="544258" h="350424" extrusionOk="0">
                  <a:moveTo>
                    <a:pt x="515684" y="271463"/>
                  </a:moveTo>
                  <a:lnTo>
                    <a:pt x="515684" y="147352"/>
                  </a:lnTo>
                  <a:cubicBezTo>
                    <a:pt x="532162" y="142208"/>
                    <a:pt x="544259" y="127064"/>
                    <a:pt x="544259" y="108871"/>
                  </a:cubicBezTo>
                  <a:cubicBezTo>
                    <a:pt x="544259" y="90678"/>
                    <a:pt x="532162" y="75533"/>
                    <a:pt x="515684" y="70390"/>
                  </a:cubicBezTo>
                  <a:lnTo>
                    <a:pt x="515684" y="28575"/>
                  </a:lnTo>
                  <a:lnTo>
                    <a:pt x="280988" y="28575"/>
                  </a:lnTo>
                  <a:cubicBezTo>
                    <a:pt x="275844" y="12097"/>
                    <a:pt x="260699" y="0"/>
                    <a:pt x="242507" y="0"/>
                  </a:cubicBezTo>
                  <a:cubicBezTo>
                    <a:pt x="224314" y="0"/>
                    <a:pt x="209169" y="12097"/>
                    <a:pt x="204026" y="28575"/>
                  </a:cubicBezTo>
                  <a:lnTo>
                    <a:pt x="78962" y="28575"/>
                  </a:lnTo>
                  <a:cubicBezTo>
                    <a:pt x="73819" y="12097"/>
                    <a:pt x="58674" y="0"/>
                    <a:pt x="40481" y="0"/>
                  </a:cubicBezTo>
                  <a:cubicBezTo>
                    <a:pt x="18193" y="0"/>
                    <a:pt x="0" y="18193"/>
                    <a:pt x="0" y="40481"/>
                  </a:cubicBezTo>
                  <a:cubicBezTo>
                    <a:pt x="0" y="58198"/>
                    <a:pt x="11525" y="73152"/>
                    <a:pt x="27527" y="78581"/>
                  </a:cubicBezTo>
                  <a:lnTo>
                    <a:pt x="27527" y="270701"/>
                  </a:lnTo>
                  <a:cubicBezTo>
                    <a:pt x="11621" y="276130"/>
                    <a:pt x="0" y="291084"/>
                    <a:pt x="0" y="308801"/>
                  </a:cubicBezTo>
                  <a:cubicBezTo>
                    <a:pt x="0" y="331089"/>
                    <a:pt x="18193" y="349282"/>
                    <a:pt x="40481" y="349282"/>
                  </a:cubicBezTo>
                  <a:cubicBezTo>
                    <a:pt x="58198" y="349282"/>
                    <a:pt x="73152" y="337757"/>
                    <a:pt x="78581" y="321850"/>
                  </a:cubicBezTo>
                  <a:lnTo>
                    <a:pt x="465201" y="321850"/>
                  </a:lnTo>
                  <a:cubicBezTo>
                    <a:pt x="470345" y="338328"/>
                    <a:pt x="485489" y="350425"/>
                    <a:pt x="503682" y="350425"/>
                  </a:cubicBezTo>
                  <a:cubicBezTo>
                    <a:pt x="525971" y="350425"/>
                    <a:pt x="544163" y="332232"/>
                    <a:pt x="544163" y="309944"/>
                  </a:cubicBezTo>
                  <a:cubicBezTo>
                    <a:pt x="544163" y="291846"/>
                    <a:pt x="532067" y="276606"/>
                    <a:pt x="515588" y="271463"/>
                  </a:cubicBezTo>
                  <a:close/>
                  <a:moveTo>
                    <a:pt x="78010" y="293656"/>
                  </a:moveTo>
                  <a:cubicBezTo>
                    <a:pt x="139922" y="274796"/>
                    <a:pt x="226505" y="250508"/>
                    <a:pt x="275558" y="236887"/>
                  </a:cubicBezTo>
                  <a:cubicBezTo>
                    <a:pt x="282131" y="250317"/>
                    <a:pt x="295847" y="259652"/>
                    <a:pt x="311753" y="259652"/>
                  </a:cubicBezTo>
                  <a:cubicBezTo>
                    <a:pt x="326136" y="259652"/>
                    <a:pt x="338614" y="252127"/>
                    <a:pt x="345853" y="240792"/>
                  </a:cubicBezTo>
                  <a:lnTo>
                    <a:pt x="468821" y="289846"/>
                  </a:lnTo>
                  <a:cubicBezTo>
                    <a:pt x="467392" y="292418"/>
                    <a:pt x="466249" y="295085"/>
                    <a:pt x="465296" y="297942"/>
                  </a:cubicBezTo>
                  <a:lnTo>
                    <a:pt x="79343" y="297942"/>
                  </a:lnTo>
                  <a:cubicBezTo>
                    <a:pt x="78962" y="296513"/>
                    <a:pt x="78581" y="294989"/>
                    <a:pt x="78010" y="293561"/>
                  </a:cubicBezTo>
                  <a:close/>
                  <a:moveTo>
                    <a:pt x="63532" y="73724"/>
                  </a:moveTo>
                  <a:lnTo>
                    <a:pt x="124492" y="148114"/>
                  </a:lnTo>
                  <a:cubicBezTo>
                    <a:pt x="118491" y="155162"/>
                    <a:pt x="114681" y="164211"/>
                    <a:pt x="114681" y="174212"/>
                  </a:cubicBezTo>
                  <a:cubicBezTo>
                    <a:pt x="114681" y="184214"/>
                    <a:pt x="118301" y="192786"/>
                    <a:pt x="124016" y="199739"/>
                  </a:cubicBezTo>
                  <a:lnTo>
                    <a:pt x="60770" y="273939"/>
                  </a:lnTo>
                  <a:cubicBezTo>
                    <a:pt x="57817" y="272225"/>
                    <a:pt x="54769" y="270891"/>
                    <a:pt x="51435" y="270034"/>
                  </a:cubicBezTo>
                  <a:lnTo>
                    <a:pt x="51435" y="79248"/>
                  </a:lnTo>
                  <a:cubicBezTo>
                    <a:pt x="55816" y="78010"/>
                    <a:pt x="59912" y="76200"/>
                    <a:pt x="63532" y="73724"/>
                  </a:cubicBezTo>
                  <a:close/>
                  <a:moveTo>
                    <a:pt x="214789" y="69818"/>
                  </a:moveTo>
                  <a:lnTo>
                    <a:pt x="170879" y="137065"/>
                  </a:lnTo>
                  <a:cubicBezTo>
                    <a:pt x="166021" y="134969"/>
                    <a:pt x="160687" y="133826"/>
                    <a:pt x="155067" y="133826"/>
                  </a:cubicBezTo>
                  <a:cubicBezTo>
                    <a:pt x="147923" y="133826"/>
                    <a:pt x="141351" y="135827"/>
                    <a:pt x="135446" y="139065"/>
                  </a:cubicBezTo>
                  <a:lnTo>
                    <a:pt x="73628" y="63532"/>
                  </a:lnTo>
                  <a:cubicBezTo>
                    <a:pt x="76010" y="60198"/>
                    <a:pt x="77724" y="56388"/>
                    <a:pt x="78962" y="52292"/>
                  </a:cubicBezTo>
                  <a:lnTo>
                    <a:pt x="204026" y="52292"/>
                  </a:lnTo>
                  <a:cubicBezTo>
                    <a:pt x="206121" y="59055"/>
                    <a:pt x="209836" y="64960"/>
                    <a:pt x="214789" y="69723"/>
                  </a:cubicBezTo>
                  <a:close/>
                  <a:moveTo>
                    <a:pt x="242507" y="80963"/>
                  </a:moveTo>
                  <a:cubicBezTo>
                    <a:pt x="254318" y="80963"/>
                    <a:pt x="264890" y="75724"/>
                    <a:pt x="272320" y="67628"/>
                  </a:cubicBezTo>
                  <a:lnTo>
                    <a:pt x="314325" y="93917"/>
                  </a:lnTo>
                  <a:cubicBezTo>
                    <a:pt x="312420" y="98584"/>
                    <a:pt x="311372" y="103632"/>
                    <a:pt x="311372" y="108966"/>
                  </a:cubicBezTo>
                  <a:cubicBezTo>
                    <a:pt x="311372" y="122111"/>
                    <a:pt x="317754" y="133731"/>
                    <a:pt x="327565" y="141065"/>
                  </a:cubicBezTo>
                  <a:lnTo>
                    <a:pt x="313849" y="179070"/>
                  </a:lnTo>
                  <a:cubicBezTo>
                    <a:pt x="313182" y="179070"/>
                    <a:pt x="312515" y="178880"/>
                    <a:pt x="311849" y="178880"/>
                  </a:cubicBezTo>
                  <a:cubicBezTo>
                    <a:pt x="295847" y="178880"/>
                    <a:pt x="282131" y="188309"/>
                    <a:pt x="275558" y="201739"/>
                  </a:cubicBezTo>
                  <a:lnTo>
                    <a:pt x="195167" y="178499"/>
                  </a:lnTo>
                  <a:cubicBezTo>
                    <a:pt x="195358" y="177070"/>
                    <a:pt x="195548" y="175736"/>
                    <a:pt x="195548" y="174308"/>
                  </a:cubicBezTo>
                  <a:cubicBezTo>
                    <a:pt x="195548" y="162782"/>
                    <a:pt x="190595" y="152400"/>
                    <a:pt x="182785" y="144971"/>
                  </a:cubicBezTo>
                  <a:lnTo>
                    <a:pt x="226695" y="77724"/>
                  </a:lnTo>
                  <a:cubicBezTo>
                    <a:pt x="231553" y="79820"/>
                    <a:pt x="236887" y="80963"/>
                    <a:pt x="242507" y="80963"/>
                  </a:cubicBezTo>
                  <a:close/>
                  <a:moveTo>
                    <a:pt x="464058" y="116015"/>
                  </a:moveTo>
                  <a:cubicBezTo>
                    <a:pt x="464439" y="118301"/>
                    <a:pt x="465106" y="120396"/>
                    <a:pt x="465868" y="122492"/>
                  </a:cubicBezTo>
                  <a:lnTo>
                    <a:pt x="342805" y="193453"/>
                  </a:lnTo>
                  <a:cubicBezTo>
                    <a:pt x="340900" y="191072"/>
                    <a:pt x="338709" y="188976"/>
                    <a:pt x="336233" y="187166"/>
                  </a:cubicBezTo>
                  <a:lnTo>
                    <a:pt x="350044" y="149162"/>
                  </a:lnTo>
                  <a:cubicBezTo>
                    <a:pt x="350711" y="149162"/>
                    <a:pt x="351282" y="149352"/>
                    <a:pt x="351949" y="149352"/>
                  </a:cubicBezTo>
                  <a:cubicBezTo>
                    <a:pt x="371761" y="149352"/>
                    <a:pt x="388239" y="134969"/>
                    <a:pt x="391668" y="116015"/>
                  </a:cubicBezTo>
                  <a:lnTo>
                    <a:pt x="464058" y="116015"/>
                  </a:lnTo>
                  <a:close/>
                  <a:moveTo>
                    <a:pt x="478631" y="278511"/>
                  </a:moveTo>
                  <a:lnTo>
                    <a:pt x="351377" y="227743"/>
                  </a:lnTo>
                  <a:cubicBezTo>
                    <a:pt x="351949" y="224981"/>
                    <a:pt x="352330" y="222218"/>
                    <a:pt x="352330" y="219265"/>
                  </a:cubicBezTo>
                  <a:cubicBezTo>
                    <a:pt x="352330" y="214503"/>
                    <a:pt x="351377" y="210026"/>
                    <a:pt x="349853" y="205740"/>
                  </a:cubicBezTo>
                  <a:lnTo>
                    <a:pt x="473107" y="134874"/>
                  </a:lnTo>
                  <a:cubicBezTo>
                    <a:pt x="478060" y="140684"/>
                    <a:pt x="484537" y="145066"/>
                    <a:pt x="491966" y="147352"/>
                  </a:cubicBezTo>
                  <a:lnTo>
                    <a:pt x="491966" y="271463"/>
                  </a:lnTo>
                  <a:cubicBezTo>
                    <a:pt x="487109" y="272987"/>
                    <a:pt x="482632" y="275368"/>
                    <a:pt x="478727" y="278511"/>
                  </a:cubicBezTo>
                  <a:close/>
                  <a:moveTo>
                    <a:pt x="134779" y="209074"/>
                  </a:moveTo>
                  <a:cubicBezTo>
                    <a:pt x="140780" y="212598"/>
                    <a:pt x="147638" y="214789"/>
                    <a:pt x="155067" y="214789"/>
                  </a:cubicBezTo>
                  <a:cubicBezTo>
                    <a:pt x="170974" y="214789"/>
                    <a:pt x="184594" y="205550"/>
                    <a:pt x="191167" y="192214"/>
                  </a:cubicBezTo>
                  <a:lnTo>
                    <a:pt x="271653" y="215456"/>
                  </a:lnTo>
                  <a:cubicBezTo>
                    <a:pt x="271558" y="216694"/>
                    <a:pt x="271272" y="217932"/>
                    <a:pt x="271272" y="219265"/>
                  </a:cubicBezTo>
                  <a:cubicBezTo>
                    <a:pt x="271272" y="220599"/>
                    <a:pt x="271558" y="221933"/>
                    <a:pt x="271653" y="223266"/>
                  </a:cubicBezTo>
                  <a:cubicBezTo>
                    <a:pt x="222599" y="236887"/>
                    <a:pt x="136493" y="260985"/>
                    <a:pt x="74486" y="279845"/>
                  </a:cubicBezTo>
                  <a:lnTo>
                    <a:pt x="134779" y="209074"/>
                  </a:lnTo>
                  <a:close/>
                  <a:moveTo>
                    <a:pt x="503777" y="125540"/>
                  </a:moveTo>
                  <a:cubicBezTo>
                    <a:pt x="494633" y="125540"/>
                    <a:pt x="487109" y="118110"/>
                    <a:pt x="487109" y="108871"/>
                  </a:cubicBezTo>
                  <a:cubicBezTo>
                    <a:pt x="487109" y="99632"/>
                    <a:pt x="494538" y="92202"/>
                    <a:pt x="503777" y="92202"/>
                  </a:cubicBezTo>
                  <a:cubicBezTo>
                    <a:pt x="513017" y="92202"/>
                    <a:pt x="520446" y="99632"/>
                    <a:pt x="520446" y="108871"/>
                  </a:cubicBezTo>
                  <a:cubicBezTo>
                    <a:pt x="520446" y="118110"/>
                    <a:pt x="513017" y="125540"/>
                    <a:pt x="503777" y="125540"/>
                  </a:cubicBezTo>
                  <a:close/>
                  <a:moveTo>
                    <a:pt x="491871" y="70390"/>
                  </a:moveTo>
                  <a:cubicBezTo>
                    <a:pt x="477584" y="74867"/>
                    <a:pt x="466725" y="86773"/>
                    <a:pt x="464058" y="101727"/>
                  </a:cubicBezTo>
                  <a:lnTo>
                    <a:pt x="391668" y="101727"/>
                  </a:lnTo>
                  <a:cubicBezTo>
                    <a:pt x="388239" y="82868"/>
                    <a:pt x="371761" y="68390"/>
                    <a:pt x="351949" y="68390"/>
                  </a:cubicBezTo>
                  <a:cubicBezTo>
                    <a:pt x="340138" y="68390"/>
                    <a:pt x="329470" y="73628"/>
                    <a:pt x="322136" y="81725"/>
                  </a:cubicBezTo>
                  <a:lnTo>
                    <a:pt x="280130" y="55435"/>
                  </a:lnTo>
                  <a:cubicBezTo>
                    <a:pt x="280511" y="54388"/>
                    <a:pt x="280797" y="53340"/>
                    <a:pt x="281083" y="52292"/>
                  </a:cubicBezTo>
                  <a:lnTo>
                    <a:pt x="491966" y="52292"/>
                  </a:lnTo>
                  <a:lnTo>
                    <a:pt x="491966" y="70295"/>
                  </a:lnTo>
                  <a:close/>
                  <a:moveTo>
                    <a:pt x="242507" y="23908"/>
                  </a:moveTo>
                  <a:cubicBezTo>
                    <a:pt x="251651" y="23908"/>
                    <a:pt x="259175" y="31337"/>
                    <a:pt x="259175" y="40577"/>
                  </a:cubicBezTo>
                  <a:cubicBezTo>
                    <a:pt x="259175" y="49816"/>
                    <a:pt x="251746" y="57245"/>
                    <a:pt x="242507" y="57245"/>
                  </a:cubicBezTo>
                  <a:cubicBezTo>
                    <a:pt x="233267" y="57245"/>
                    <a:pt x="225838" y="49816"/>
                    <a:pt x="225838" y="40577"/>
                  </a:cubicBezTo>
                  <a:cubicBezTo>
                    <a:pt x="225838" y="31337"/>
                    <a:pt x="233267" y="23908"/>
                    <a:pt x="242507" y="23908"/>
                  </a:cubicBezTo>
                  <a:close/>
                  <a:moveTo>
                    <a:pt x="40577" y="23908"/>
                  </a:moveTo>
                  <a:cubicBezTo>
                    <a:pt x="49721" y="23908"/>
                    <a:pt x="57245" y="31337"/>
                    <a:pt x="57245" y="40577"/>
                  </a:cubicBezTo>
                  <a:cubicBezTo>
                    <a:pt x="57245" y="49816"/>
                    <a:pt x="49816" y="57245"/>
                    <a:pt x="40577" y="57245"/>
                  </a:cubicBezTo>
                  <a:cubicBezTo>
                    <a:pt x="31337" y="57245"/>
                    <a:pt x="23908" y="49816"/>
                    <a:pt x="23908" y="40577"/>
                  </a:cubicBezTo>
                  <a:cubicBezTo>
                    <a:pt x="23908" y="31337"/>
                    <a:pt x="31337" y="23908"/>
                    <a:pt x="40577" y="23908"/>
                  </a:cubicBezTo>
                  <a:close/>
                  <a:moveTo>
                    <a:pt x="40577" y="325469"/>
                  </a:moveTo>
                  <a:cubicBezTo>
                    <a:pt x="31433" y="325469"/>
                    <a:pt x="23908" y="318040"/>
                    <a:pt x="23908" y="308801"/>
                  </a:cubicBezTo>
                  <a:cubicBezTo>
                    <a:pt x="23908" y="299561"/>
                    <a:pt x="31337" y="292132"/>
                    <a:pt x="40577" y="292132"/>
                  </a:cubicBezTo>
                  <a:cubicBezTo>
                    <a:pt x="49816" y="292132"/>
                    <a:pt x="57245" y="299561"/>
                    <a:pt x="57245" y="308801"/>
                  </a:cubicBezTo>
                  <a:cubicBezTo>
                    <a:pt x="57245" y="318040"/>
                    <a:pt x="49816" y="325469"/>
                    <a:pt x="40577" y="325469"/>
                  </a:cubicBezTo>
                  <a:close/>
                </a:path>
              </a:pathLst>
            </a:custGeom>
            <a:solidFill>
              <a:srgbClr val="29B5E8"/>
            </a:solidFill>
            <a:ln>
              <a:noFill/>
            </a:ln>
          </p:spPr>
          <p:txBody>
            <a:bodyPr spcFirstLastPara="1" wrap="square" lIns="131500" tIns="65725" rIns="131500" bIns="65725" anchor="t" anchorCtr="0">
              <a:noAutofit/>
            </a:bodyPr>
            <a:lstStyle/>
            <a:p>
              <a:pPr marL="0" marR="0" lvl="0" indent="0" algn="l" rtl="0">
                <a:spcBef>
                  <a:spcPts val="0"/>
                </a:spcBef>
                <a:spcAft>
                  <a:spcPts val="0"/>
                </a:spcAft>
                <a:buNone/>
              </a:pPr>
              <a:endParaRPr sz="2684">
                <a:solidFill>
                  <a:srgbClr val="252525"/>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47"/>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Trust Center</a:t>
            </a:r>
            <a:endParaRPr/>
          </a:p>
        </p:txBody>
      </p:sp>
      <p:grpSp>
        <p:nvGrpSpPr>
          <p:cNvPr id="480" name="Google Shape;480;p47"/>
          <p:cNvGrpSpPr/>
          <p:nvPr/>
        </p:nvGrpSpPr>
        <p:grpSpPr>
          <a:xfrm>
            <a:off x="7607300" y="-11275"/>
            <a:ext cx="10687700" cy="10298275"/>
            <a:chOff x="7607300" y="-11275"/>
            <a:chExt cx="10687700" cy="10298275"/>
          </a:xfrm>
        </p:grpSpPr>
        <p:sp>
          <p:nvSpPr>
            <p:cNvPr id="481" name="Google Shape;481;p47"/>
            <p:cNvSpPr/>
            <p:nvPr/>
          </p:nvSpPr>
          <p:spPr>
            <a:xfrm>
              <a:off x="7607300" y="-11275"/>
              <a:ext cx="10687700" cy="10298275"/>
            </a:xfrm>
            <a:custGeom>
              <a:avLst/>
              <a:gdLst/>
              <a:ahLst/>
              <a:cxnLst/>
              <a:rect l="l" t="t" r="r" b="b"/>
              <a:pathLst>
                <a:path w="427508" h="411931" extrusionOk="0">
                  <a:moveTo>
                    <a:pt x="0" y="411931"/>
                  </a:moveTo>
                  <a:lnTo>
                    <a:pt x="369155" y="0"/>
                  </a:lnTo>
                  <a:lnTo>
                    <a:pt x="427508" y="0"/>
                  </a:lnTo>
                  <a:lnTo>
                    <a:pt x="427447" y="411039"/>
                  </a:lnTo>
                  <a:close/>
                </a:path>
              </a:pathLst>
            </a:custGeom>
            <a:solidFill>
              <a:srgbClr val="EAF8FF"/>
            </a:solidFill>
            <a:ln>
              <a:noFill/>
            </a:ln>
          </p:spPr>
          <p:txBody>
            <a:bodyPr/>
            <a:lstStyle/>
            <a:p>
              <a:endParaRPr lang="en-US"/>
            </a:p>
          </p:txBody>
        </p:sp>
        <p:grpSp>
          <p:nvGrpSpPr>
            <p:cNvPr id="482" name="Google Shape;482;p47"/>
            <p:cNvGrpSpPr/>
            <p:nvPr/>
          </p:nvGrpSpPr>
          <p:grpSpPr>
            <a:xfrm>
              <a:off x="8377940" y="8459957"/>
              <a:ext cx="9910045" cy="1825275"/>
              <a:chOff x="8377940" y="8459957"/>
              <a:chExt cx="9910045" cy="1825275"/>
            </a:xfrm>
          </p:grpSpPr>
          <p:sp>
            <p:nvSpPr>
              <p:cNvPr id="483" name="Google Shape;483;p47"/>
              <p:cNvSpPr/>
              <p:nvPr/>
            </p:nvSpPr>
            <p:spPr>
              <a:xfrm>
                <a:off x="8377940" y="945294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grpSp>
            <p:nvGrpSpPr>
              <p:cNvPr id="484" name="Google Shape;484;p47"/>
              <p:cNvGrpSpPr/>
              <p:nvPr/>
            </p:nvGrpSpPr>
            <p:grpSpPr>
              <a:xfrm>
                <a:off x="14895615" y="8459957"/>
                <a:ext cx="3392370" cy="1825275"/>
                <a:chOff x="14895615" y="8459957"/>
                <a:chExt cx="3392370" cy="1825275"/>
              </a:xfrm>
            </p:grpSpPr>
            <p:sp>
              <p:nvSpPr>
                <p:cNvPr id="485" name="Google Shape;485;p47"/>
                <p:cNvSpPr/>
                <p:nvPr/>
              </p:nvSpPr>
              <p:spPr>
                <a:xfrm>
                  <a:off x="14895615" y="944431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sp>
              <p:nvSpPr>
                <p:cNvPr id="486" name="Google Shape;486;p47"/>
                <p:cNvSpPr/>
                <p:nvPr/>
              </p:nvSpPr>
              <p:spPr>
                <a:xfrm>
                  <a:off x="15599660" y="8459957"/>
                  <a:ext cx="2688325" cy="1825275"/>
                </a:xfrm>
                <a:custGeom>
                  <a:avLst/>
                  <a:gdLst/>
                  <a:ahLst/>
                  <a:cxnLst/>
                  <a:rect l="l" t="t" r="r" b="b"/>
                  <a:pathLst>
                    <a:path w="107533" h="73011" extrusionOk="0">
                      <a:moveTo>
                        <a:pt x="0" y="72615"/>
                      </a:moveTo>
                      <a:lnTo>
                        <a:pt x="64678" y="0"/>
                      </a:lnTo>
                      <a:lnTo>
                        <a:pt x="107533" y="45632"/>
                      </a:lnTo>
                      <a:lnTo>
                        <a:pt x="107533" y="73011"/>
                      </a:lnTo>
                      <a:close/>
                    </a:path>
                  </a:pathLst>
                </a:custGeom>
                <a:solidFill>
                  <a:schemeClr val="lt2"/>
                </a:solidFill>
                <a:ln>
                  <a:noFill/>
                </a:ln>
              </p:spPr>
              <p:txBody>
                <a:bodyPr/>
                <a:lstStyle/>
                <a:p>
                  <a:endParaRPr lang="en-US"/>
                </a:p>
              </p:txBody>
            </p:sp>
          </p:grpSp>
        </p:grpSp>
      </p:grpSp>
      <p:pic>
        <p:nvPicPr>
          <p:cNvPr id="487" name="Google Shape;487;p47" title="Loom Message - 20 April 2026 (2).gif"/>
          <p:cNvPicPr preferRelativeResize="0"/>
          <p:nvPr/>
        </p:nvPicPr>
        <p:blipFill>
          <a:blip r:embed="rId3">
            <a:alphaModFix/>
          </a:blip>
          <a:stretch>
            <a:fillRect/>
          </a:stretch>
        </p:blipFill>
        <p:spPr>
          <a:xfrm>
            <a:off x="7741615" y="2738650"/>
            <a:ext cx="9632100" cy="5127300"/>
          </a:xfrm>
          <a:prstGeom prst="roundRect">
            <a:avLst>
              <a:gd name="adj" fmla="val 2355"/>
            </a:avLst>
          </a:prstGeom>
          <a:noFill/>
          <a:ln w="19050" cap="flat" cmpd="sng">
            <a:solidFill>
              <a:srgbClr val="CCCCCC"/>
            </a:solidFill>
            <a:prstDash val="solid"/>
            <a:round/>
            <a:headEnd type="none" w="sm" len="sm"/>
            <a:tailEnd type="none" w="sm" len="sm"/>
          </a:ln>
        </p:spPr>
      </p:pic>
      <p:graphicFrame>
        <p:nvGraphicFramePr>
          <p:cNvPr id="488" name="Google Shape;488;p47"/>
          <p:cNvGraphicFramePr/>
          <p:nvPr/>
        </p:nvGraphicFramePr>
        <p:xfrm>
          <a:off x="935182" y="2738642"/>
          <a:ext cx="7041825" cy="5127225"/>
        </p:xfrm>
        <a:graphic>
          <a:graphicData uri="http://schemas.openxmlformats.org/drawingml/2006/table">
            <a:tbl>
              <a:tblPr>
                <a:noFill/>
                <a:tableStyleId>{7C9BA2E7-DC5C-43F0-99E9-B03DE4E068D4}</a:tableStyleId>
              </a:tblPr>
              <a:tblGrid>
                <a:gridCol w="7041825">
                  <a:extLst>
                    <a:ext uri="{9D8B030D-6E8A-4147-A177-3AD203B41FA5}">
                      <a16:colId xmlns:a16="http://schemas.microsoft.com/office/drawing/2014/main" val="20000"/>
                    </a:ext>
                  </a:extLst>
                </a:gridCol>
              </a:tblGrid>
              <a:tr h="1238700">
                <a:tc>
                  <a:txBody>
                    <a:bodyPr/>
                    <a:lstStyle/>
                    <a:p>
                      <a:pPr marL="0" lvl="0" indent="0" algn="l" rtl="0">
                        <a:spcBef>
                          <a:spcPts val="0"/>
                        </a:spcBef>
                        <a:spcAft>
                          <a:spcPts val="1200"/>
                        </a:spcAft>
                        <a:buNone/>
                      </a:pPr>
                      <a:r>
                        <a:rPr lang="en-US" sz="2200">
                          <a:solidFill>
                            <a:srgbClr val="262626"/>
                          </a:solidFill>
                        </a:rPr>
                        <a:t>Discover &amp; remediate security, identity, </a:t>
                      </a:r>
                      <a:br>
                        <a:rPr lang="en-US" sz="2200">
                          <a:solidFill>
                            <a:srgbClr val="262626"/>
                          </a:solidFill>
                        </a:rPr>
                      </a:br>
                      <a:r>
                        <a:rPr lang="en-US" sz="2200">
                          <a:solidFill>
                            <a:srgbClr val="262626"/>
                          </a:solidFill>
                        </a:rPr>
                        <a:t>data governance, and compliance risks </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1558425">
                <a:tc>
                  <a:txBody>
                    <a:bodyPr/>
                    <a:lstStyle/>
                    <a:p>
                      <a:pPr marL="457200" lvl="0" indent="-368300" algn="l" rtl="0">
                        <a:spcBef>
                          <a:spcPts val="0"/>
                        </a:spcBef>
                        <a:spcAft>
                          <a:spcPts val="0"/>
                        </a:spcAft>
                        <a:buClr>
                          <a:schemeClr val="accent1"/>
                        </a:buClr>
                        <a:buSzPts val="2200"/>
                        <a:buChar char="●"/>
                      </a:pPr>
                      <a:r>
                        <a:rPr lang="en-US" sz="2200">
                          <a:solidFill>
                            <a:srgbClr val="262626"/>
                          </a:solidFill>
                        </a:rPr>
                        <a:t>Streamline cross-cloud security monitoring </a:t>
                      </a:r>
                      <a:br>
                        <a:rPr lang="en-US" sz="2200">
                          <a:solidFill>
                            <a:srgbClr val="262626"/>
                          </a:solidFill>
                        </a:rPr>
                      </a:br>
                      <a:r>
                        <a:rPr lang="en-US" sz="2200">
                          <a:solidFill>
                            <a:srgbClr val="262626"/>
                          </a:solidFill>
                        </a:rPr>
                        <a:t>in one centralized place </a:t>
                      </a:r>
                      <a:endParaRPr sz="2200">
                        <a:solidFill>
                          <a:srgbClr val="262626"/>
                        </a:solidFill>
                      </a:endParaRPr>
                    </a:p>
                    <a:p>
                      <a:pPr marL="457200" lvl="0" indent="-368300" algn="l" rtl="0">
                        <a:spcBef>
                          <a:spcPts val="1200"/>
                        </a:spcBef>
                        <a:spcAft>
                          <a:spcPts val="0"/>
                        </a:spcAft>
                        <a:buClr>
                          <a:schemeClr val="accent1"/>
                        </a:buClr>
                        <a:buSzPts val="2200"/>
                        <a:buChar char="●"/>
                      </a:pPr>
                      <a:r>
                        <a:rPr lang="en-US" sz="2200">
                          <a:solidFill>
                            <a:srgbClr val="262626"/>
                          </a:solidFill>
                        </a:rPr>
                        <a:t>Lower TCO and reduce account risks</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1652575">
                <a:tc>
                  <a:txBody>
                    <a:bodyPr/>
                    <a:lstStyle/>
                    <a:p>
                      <a:pPr marL="0" lvl="0" indent="0" algn="l" rtl="0">
                        <a:lnSpc>
                          <a:spcPct val="115000"/>
                        </a:lnSpc>
                        <a:spcBef>
                          <a:spcPts val="1200"/>
                        </a:spcBef>
                        <a:spcAft>
                          <a:spcPts val="1200"/>
                        </a:spcAft>
                        <a:buNone/>
                      </a:pPr>
                      <a:r>
                        <a:rPr lang="en-US" sz="2200">
                          <a:solidFill>
                            <a:srgbClr val="262626"/>
                          </a:solidFill>
                        </a:rPr>
                        <a:t>Scan accounts to detect security violations </a:t>
                      </a:r>
                      <a:br>
                        <a:rPr lang="en-US" sz="2200">
                          <a:solidFill>
                            <a:srgbClr val="262626"/>
                          </a:solidFill>
                        </a:rPr>
                      </a:br>
                      <a:r>
                        <a:rPr lang="en-US" sz="2200">
                          <a:solidFill>
                            <a:srgbClr val="262626"/>
                          </a:solidFill>
                        </a:rPr>
                        <a:t>based on Snowflake CIS Benchmark</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89" name="Google Shape;489;p47"/>
          <p:cNvSpPr/>
          <p:nvPr/>
        </p:nvSpPr>
        <p:spPr>
          <a:xfrm>
            <a:off x="897082" y="2738642"/>
            <a:ext cx="14358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Clr>
                <a:srgbClr val="000000"/>
              </a:buClr>
              <a:buSzPts val="3200"/>
              <a:buFont typeface="Arial"/>
              <a:buNone/>
            </a:pPr>
            <a:r>
              <a:rPr lang="en-US" sz="1800" b="1">
                <a:solidFill>
                  <a:srgbClr val="FFFFFF"/>
                </a:solidFill>
              </a:rPr>
              <a:t>WHAT IS IT</a:t>
            </a:r>
            <a:endParaRPr sz="1800">
              <a:solidFill>
                <a:srgbClr val="FFFFFF"/>
              </a:solidFill>
            </a:endParaRPr>
          </a:p>
        </p:txBody>
      </p:sp>
      <p:sp>
        <p:nvSpPr>
          <p:cNvPr id="490" name="Google Shape;490;p47"/>
          <p:cNvSpPr/>
          <p:nvPr/>
        </p:nvSpPr>
        <p:spPr>
          <a:xfrm>
            <a:off x="897082" y="4232136"/>
            <a:ext cx="15597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WHY USE IT</a:t>
            </a:r>
            <a:endParaRPr sz="1800">
              <a:solidFill>
                <a:srgbClr val="FFFFFF"/>
              </a:solidFill>
            </a:endParaRPr>
          </a:p>
        </p:txBody>
      </p:sp>
      <p:sp>
        <p:nvSpPr>
          <p:cNvPr id="491" name="Google Shape;491;p47"/>
          <p:cNvSpPr/>
          <p:nvPr/>
        </p:nvSpPr>
        <p:spPr>
          <a:xfrm>
            <a:off x="897082" y="6213267"/>
            <a:ext cx="19650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HOW TO USE IT</a:t>
            </a:r>
            <a:endParaRPr sz="180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1">
          <a:extLst>
            <a:ext uri="{FF2B5EF4-FFF2-40B4-BE49-F238E27FC236}">
              <a16:creationId xmlns:a16="http://schemas.microsoft.com/office/drawing/2014/main" id="{EA817256-C67E-F762-85D7-FED2998A8AFF}"/>
            </a:ext>
          </a:extLst>
        </p:cNvPr>
        <p:cNvGrpSpPr/>
        <p:nvPr/>
      </p:nvGrpSpPr>
      <p:grpSpPr>
        <a:xfrm>
          <a:off x="0" y="0"/>
          <a:ext cx="0" cy="0"/>
          <a:chOff x="0" y="0"/>
          <a:chExt cx="0" cy="0"/>
        </a:xfrm>
      </p:grpSpPr>
      <p:sp>
        <p:nvSpPr>
          <p:cNvPr id="952" name="Google Shape;952;p67">
            <a:extLst>
              <a:ext uri="{FF2B5EF4-FFF2-40B4-BE49-F238E27FC236}">
                <a16:creationId xmlns:a16="http://schemas.microsoft.com/office/drawing/2014/main" id="{82AADB80-65DA-7804-8AB6-C1BBB30BC961}"/>
              </a:ext>
            </a:extLst>
          </p:cNvPr>
          <p:cNvSpPr txBox="1">
            <a:spLocks noGrp="1"/>
          </p:cNvSpPr>
          <p:nvPr>
            <p:ph type="ctrTitle"/>
          </p:nvPr>
        </p:nvSpPr>
        <p:spPr>
          <a:xfrm>
            <a:off x="705200" y="2313250"/>
            <a:ext cx="11167800" cy="2980800"/>
          </a:xfrm>
          <a:prstGeom prst="rect">
            <a:avLst/>
          </a:prstGeom>
        </p:spPr>
        <p:txBody>
          <a:bodyPr spcFirstLastPara="1" wrap="square" lIns="182900" tIns="45700" rIns="91450" bIns="0" anchor="b" anchorCtr="0">
            <a:noAutofit/>
          </a:bodyPr>
          <a:lstStyle/>
          <a:p>
            <a:pPr marL="0" lvl="0" indent="0" algn="l" rtl="0">
              <a:spcBef>
                <a:spcPts val="0"/>
              </a:spcBef>
              <a:spcAft>
                <a:spcPts val="0"/>
              </a:spcAft>
              <a:buNone/>
            </a:pPr>
            <a:r>
              <a:rPr lang="en-US" dirty="0"/>
              <a:t>DEMO</a:t>
            </a:r>
            <a:endParaRPr dirty="0"/>
          </a:p>
        </p:txBody>
      </p:sp>
    </p:spTree>
    <p:extLst>
      <p:ext uri="{BB962C8B-B14F-4D97-AF65-F5344CB8AC3E}">
        <p14:creationId xmlns:p14="http://schemas.microsoft.com/office/powerpoint/2010/main" val="712343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67"/>
          <p:cNvSpPr txBox="1">
            <a:spLocks noGrp="1"/>
          </p:cNvSpPr>
          <p:nvPr>
            <p:ph type="ctrTitle"/>
          </p:nvPr>
        </p:nvSpPr>
        <p:spPr>
          <a:xfrm>
            <a:off x="705200" y="2313250"/>
            <a:ext cx="11167800" cy="2980800"/>
          </a:xfrm>
          <a:prstGeom prst="rect">
            <a:avLst/>
          </a:prstGeom>
        </p:spPr>
        <p:txBody>
          <a:bodyPr spcFirstLastPara="1" wrap="square" lIns="182900" tIns="45700" rIns="91450" bIns="0" anchor="b" anchorCtr="0">
            <a:noAutofit/>
          </a:bodyPr>
          <a:lstStyle/>
          <a:p>
            <a:pPr marL="0" lvl="0" indent="0" algn="l" rtl="0">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name="Snowflake World Tour 2026">
  <a:themeElements>
    <a:clrScheme name="Snowflake Corp Colors">
      <a:dk1>
        <a:srgbClr val="252525"/>
      </a:dk1>
      <a:lt1>
        <a:srgbClr val="FFFFFF"/>
      </a:lt1>
      <a:dk2>
        <a:srgbClr val="11567F"/>
      </a:dk2>
      <a:lt2>
        <a:srgbClr val="FFFFFF"/>
      </a:lt2>
      <a:accent1>
        <a:srgbClr val="28B5E8"/>
      </a:accent1>
      <a:accent2>
        <a:srgbClr val="11567F"/>
      </a:accent2>
      <a:accent3>
        <a:srgbClr val="71D3DC"/>
      </a:accent3>
      <a:accent4>
        <a:srgbClr val="FF9F36"/>
      </a:accent4>
      <a:accent5>
        <a:srgbClr val="7D44CF"/>
      </a:accent5>
      <a:accent6>
        <a:srgbClr val="D35B90"/>
      </a:accent6>
      <a:hlink>
        <a:srgbClr val="28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858</Words>
  <Application>Microsoft Macintosh PowerPoint</Application>
  <PresentationFormat>Custom</PresentationFormat>
  <Paragraphs>91</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Inter</vt:lpstr>
      <vt:lpstr>Arial</vt:lpstr>
      <vt:lpstr>Arial Black</vt:lpstr>
      <vt:lpstr>Lato</vt:lpstr>
      <vt:lpstr>Calibri</vt:lpstr>
      <vt:lpstr>Snowflake World Tour 2026</vt:lpstr>
      <vt:lpstr>PowerPoint Presentation</vt:lpstr>
      <vt:lpstr>The World Is Changing </vt:lpstr>
      <vt:lpstr>Top Concerns From Security Leaders</vt:lpstr>
      <vt:lpstr>Security Investments at a Glance</vt:lpstr>
      <vt:lpstr>Trust Center</vt:lpstr>
      <vt:lpstr>DEMO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Colm Moynihan</cp:lastModifiedBy>
  <cp:revision>2</cp:revision>
  <dcterms:modified xsi:type="dcterms:W3CDTF">2026-09-07T12:46:03Z</dcterms:modified>
</cp:coreProperties>
</file>